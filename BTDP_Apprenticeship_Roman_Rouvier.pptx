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5310"/>
            <a:ext cx="12188952" cy="19050"/>
          </a:xfrm>
          <a:prstGeom prst="rect">
            <a:avLst/>
          </a:prstGeom>
          <a:solidFill>
            <a:srgbClr val="692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27432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spc="420">
                <a:solidFill>
                  <a:srgbClr val="692AAC"/>
                </a:solidFill>
                <a:latin typeface="Montserrat"/>
              </a:rPr>
              <a:t>L'ORÉAL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32004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spc="200">
                <a:solidFill>
                  <a:srgbClr val="692AAC"/>
                </a:solidFill>
                <a:latin typeface="Montserrat"/>
              </a:rPr>
              <a:t>BEAUTY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57200"/>
            <a:ext cx="274320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692AAC"/>
                </a:solidFill>
                <a:latin typeface="Montserrat"/>
              </a:rPr>
              <a:t>Finance ·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182880"/>
            <a:ext cx="914400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2AAC"/>
                </a:solidFill>
                <a:latin typeface="Courier New"/>
              </a:rPr>
              <a:t>01 / 04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88952" cy="25400"/>
          </a:xfrm>
          <a:prstGeom prst="rect">
            <a:avLst/>
          </a:prstGeom>
          <a:solidFill>
            <a:srgbClr val="692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777240"/>
            <a:ext cx="3840480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spc="500">
                <a:solidFill>
                  <a:srgbClr val="692AAC"/>
                </a:solidFill>
                <a:latin typeface="Courier New"/>
              </a:rPr>
              <a:t>01 ·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005840"/>
            <a:ext cx="384048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spc="80">
                <a:solidFill>
                  <a:srgbClr val="FFFFFF"/>
                </a:solidFill>
                <a:latin typeface="Montserrat"/>
              </a:rPr>
              <a:t>L'ORÉAL,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488440"/>
            <a:ext cx="384048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spc="80">
                <a:solidFill>
                  <a:srgbClr val="FFFFFF"/>
                </a:solidFill>
                <a:latin typeface="Montserrat"/>
              </a:rPr>
              <a:t>A 10-MONTH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971040"/>
            <a:ext cx="384048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spc="80">
                <a:solidFill>
                  <a:srgbClr val="FFFFFF"/>
                </a:solidFill>
                <a:latin typeface="Montserrat"/>
              </a:rPr>
              <a:t>JOURNEY.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529840"/>
            <a:ext cx="457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707640"/>
            <a:ext cx="3749040" cy="8636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4520" y="2783840"/>
            <a:ext cx="365760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 b="1">
                <a:solidFill>
                  <a:srgbClr val="FFFFFF"/>
                </a:solidFill>
                <a:latin typeface="Montserrat"/>
              </a:rPr>
              <a:t>"At L'Oréal, entrepreneurship
isn't a role — it's a mindset
shared by everyone."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777240"/>
            <a:ext cx="8257032" cy="149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777240"/>
            <a:ext cx="8257032" cy="38100"/>
          </a:xfrm>
          <a:prstGeom prst="rect">
            <a:avLst/>
          </a:prstGeom>
          <a:solidFill>
            <a:srgbClr val="692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78680" y="980440"/>
            <a:ext cx="7952232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spc="400">
                <a:solidFill>
                  <a:srgbClr val="692AAC"/>
                </a:solidFill>
                <a:latin typeface="Montserrat"/>
              </a:rPr>
              <a:t>WHO I 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8680" y="1209040"/>
            <a:ext cx="79522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70D43"/>
                </a:solidFill>
                <a:latin typeface="Montserrat"/>
              </a:rPr>
              <a:t>Roman Rouvier, apprentice Product Lead within the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8680" y="1386840"/>
            <a:ext cx="79522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70D43"/>
                </a:solidFill>
                <a:latin typeface="Montserrat"/>
              </a:rPr>
              <a:t>Beauty Tech Data Platform — the core of L'Oréal.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0280" y="1564640"/>
            <a:ext cx="78506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9 months of international internships (Dublin &amp; Amsterdam)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0280" y="1742440"/>
            <a:ext cx="78506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2 years of apprenticeships: Capgemini &amp; KPMG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0280" y="1920240"/>
            <a:ext cx="78506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Transition from client-side to internal mindset.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2385568"/>
            <a:ext cx="8257032" cy="149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26280" y="2385568"/>
            <a:ext cx="8257032" cy="38100"/>
          </a:xfrm>
          <a:prstGeom prst="rect">
            <a:avLst/>
          </a:prstGeom>
          <a:solidFill>
            <a:srgbClr val="692A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78680" y="2588768"/>
            <a:ext cx="7952232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spc="400">
                <a:solidFill>
                  <a:srgbClr val="692AAC"/>
                </a:solidFill>
                <a:latin typeface="Montserrat"/>
              </a:rPr>
              <a:t>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8680" y="2817368"/>
            <a:ext cx="79522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70D43"/>
                </a:solidFill>
                <a:latin typeface="Montserrat"/>
              </a:rPr>
              <a:t>9 months of international internships (Dublin &amp; Amsterdam)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8680" y="2995168"/>
            <a:ext cx="79522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70D43"/>
                </a:solidFill>
                <a:latin typeface="Montserrat"/>
              </a:rPr>
              <a:t>— and 2 years of apprenticeships: Capgemini &amp; KPMG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0280" y="3172968"/>
            <a:ext cx="78506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Strong client-side consulting background (Capgemini, KPMG)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0280" y="3350768"/>
            <a:ext cx="78506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International experience across 3 countries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80280" y="3528568"/>
            <a:ext cx="78506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Finance domain expertise built during apprenticeship</a:t>
            </a:r>
          </a:p>
        </p:txBody>
      </p:sp>
      <p:pic>
        <p:nvPicPr>
          <p:cNvPr id="34" name="Picture 33" descr="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280" y="3302000"/>
            <a:ext cx="502920" cy="338328"/>
          </a:xfrm>
          <a:prstGeom prst="rect">
            <a:avLst/>
          </a:prstGeom>
        </p:spPr>
      </p:pic>
      <p:pic>
        <p:nvPicPr>
          <p:cNvPr id="35" name="Picture 34" descr="kp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2280" y="3302000"/>
            <a:ext cx="338328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5310"/>
            <a:ext cx="12188952" cy="19050"/>
          </a:xfrm>
          <a:prstGeom prst="rect">
            <a:avLst/>
          </a:prstGeom>
          <a:solidFill>
            <a:srgbClr val="41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27432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spc="420">
                <a:solidFill>
                  <a:srgbClr val="692AAC"/>
                </a:solidFill>
                <a:latin typeface="Montserrat"/>
              </a:rPr>
              <a:t>L'ORÉAL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32004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spc="200">
                <a:solidFill>
                  <a:srgbClr val="692AAC"/>
                </a:solidFill>
                <a:latin typeface="Montserrat"/>
              </a:rPr>
              <a:t>BEAUTY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57200"/>
            <a:ext cx="274320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692AAC"/>
                </a:solidFill>
                <a:latin typeface="Montserrat"/>
              </a:rPr>
              <a:t>Finance ·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182880"/>
            <a:ext cx="914400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2AAC"/>
                </a:solidFill>
                <a:latin typeface="Courier New"/>
              </a:rPr>
              <a:t>02 / 04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88952" cy="25400"/>
          </a:xfrm>
          <a:prstGeom prst="rect">
            <a:avLst/>
          </a:prstGeom>
          <a:solidFill>
            <a:srgbClr val="41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777240"/>
            <a:ext cx="3840480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spc="500">
                <a:solidFill>
                  <a:srgbClr val="418EED"/>
                </a:solidFill>
                <a:latin typeface="Courier New"/>
              </a:rPr>
              <a:t>02 ·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005840"/>
            <a:ext cx="384048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spc="80">
                <a:solidFill>
                  <a:srgbClr val="FFFFFF"/>
                </a:solidFill>
                <a:latin typeface="Montserrat"/>
              </a:rPr>
              <a:t>DISCOVERING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488440"/>
            <a:ext cx="384048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spc="80">
                <a:solidFill>
                  <a:srgbClr val="FFFFFF"/>
                </a:solidFill>
                <a:latin typeface="Montserrat"/>
              </a:rPr>
              <a:t>THE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971040"/>
            <a:ext cx="384048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spc="80">
                <a:solidFill>
                  <a:srgbClr val="FFFFFF"/>
                </a:solidFill>
                <a:latin typeface="Montserrat"/>
              </a:rPr>
              <a:t>ECOSYSTEM.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529840"/>
            <a:ext cx="457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707640"/>
            <a:ext cx="3749040" cy="6604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4520" y="2783840"/>
            <a:ext cx="36576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 b="1">
                <a:solidFill>
                  <a:srgbClr val="FFFFFF"/>
                </a:solidFill>
                <a:latin typeface="Montserrat"/>
              </a:rPr>
              <a:t>"Before acting —
understand."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777240"/>
            <a:ext cx="8257032" cy="1320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777240"/>
            <a:ext cx="8257032" cy="38100"/>
          </a:xfrm>
          <a:prstGeom prst="rect">
            <a:avLst/>
          </a:prstGeom>
          <a:solidFill>
            <a:srgbClr val="41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78680" y="980440"/>
            <a:ext cx="7952232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spc="400">
                <a:solidFill>
                  <a:srgbClr val="418EED"/>
                </a:solidFill>
                <a:latin typeface="Montserrat"/>
              </a:rPr>
              <a:t>FINANCE PRODUCT LEAD ROLE — BTDP DOMAIN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8680" y="1209040"/>
            <a:ext cx="79522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70D43"/>
                </a:solidFill>
                <a:latin typeface="Montserrat"/>
              </a:rPr>
              <a:t>The single point of contact for the Finance data domain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0280" y="1386840"/>
            <a:ext cx="78506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End-to-end accountability: design → build → maintain → evolve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0280" y="1564640"/>
            <a:ext cx="78506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Acting as bridge between business and technical teams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0280" y="1742440"/>
            <a:ext cx="78506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Management of the roadmap with all stakeholders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2189480"/>
            <a:ext cx="825703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80" y="2189480"/>
            <a:ext cx="8257032" cy="38100"/>
          </a:xfrm>
          <a:prstGeom prst="rect">
            <a:avLst/>
          </a:prstGeom>
          <a:solidFill>
            <a:srgbClr val="41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8680" y="2392680"/>
            <a:ext cx="7952232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spc="400">
                <a:solidFill>
                  <a:srgbClr val="418EED"/>
                </a:solidFill>
                <a:latin typeface="Montserrat"/>
              </a:rPr>
              <a:t>REX PHASE — FINANCE DOMAIN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8680" y="2621280"/>
            <a:ext cx="79522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70D43"/>
                </a:solidFill>
                <a:latin typeface="Montserrat"/>
              </a:rPr>
              <a:t>REX Phase — Finance Domain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0280" y="2799080"/>
            <a:ext cx="78506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Fast-paced environment — oral communication culture dominates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0280" y="2976880"/>
            <a:ext cx="78506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Many projects running in parallel across stakeholders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3423920"/>
            <a:ext cx="825703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26280" y="3423920"/>
            <a:ext cx="8257032" cy="38100"/>
          </a:xfrm>
          <a:prstGeom prst="rect">
            <a:avLst/>
          </a:prstGeom>
          <a:solidFill>
            <a:srgbClr val="41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78680" y="3627120"/>
            <a:ext cx="7952232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spc="400">
                <a:solidFill>
                  <a:srgbClr val="418EED"/>
                </a:solidFill>
                <a:latin typeface="Montserrat"/>
              </a:rPr>
              <a:t>ISSUES IDENTIFIED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0280" y="3855720"/>
            <a:ext cx="78506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Lack of visibility on data asset lifecycle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80280" y="4033520"/>
            <a:ext cx="78506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Scattered documentation and ownership gaps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80280" y="4211320"/>
            <a:ext cx="78506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No centralized dashboard for Finance domain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5310"/>
            <a:ext cx="12188952" cy="19050"/>
          </a:xfrm>
          <a:prstGeom prst="rect">
            <a:avLst/>
          </a:prstGeom>
          <a:solidFill>
            <a:srgbClr val="2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27432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spc="420">
                <a:solidFill>
                  <a:srgbClr val="692AAC"/>
                </a:solidFill>
                <a:latin typeface="Montserrat"/>
              </a:rPr>
              <a:t>L'ORÉAL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32004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spc="200">
                <a:solidFill>
                  <a:srgbClr val="692AAC"/>
                </a:solidFill>
                <a:latin typeface="Montserrat"/>
              </a:rPr>
              <a:t>BEAUTY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57200"/>
            <a:ext cx="274320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692AAC"/>
                </a:solidFill>
                <a:latin typeface="Montserrat"/>
              </a:rPr>
              <a:t>Finance ·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182880"/>
            <a:ext cx="914400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2AAC"/>
                </a:solidFill>
                <a:latin typeface="Courier New"/>
              </a:rPr>
              <a:t>03 / 04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88952" cy="25400"/>
          </a:xfrm>
          <a:prstGeom prst="rect">
            <a:avLst/>
          </a:prstGeom>
          <a:solidFill>
            <a:srgbClr val="2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777240"/>
            <a:ext cx="3840480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spc="500">
                <a:solidFill>
                  <a:srgbClr val="27BE82"/>
                </a:solidFill>
                <a:latin typeface="Courier New"/>
              </a:rPr>
              <a:t>03 · DEEP DIVE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005840"/>
            <a:ext cx="384048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spc="80">
                <a:solidFill>
                  <a:srgbClr val="FFFFFF"/>
                </a:solidFill>
                <a:latin typeface="Montserrat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488440"/>
            <a:ext cx="384048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spc="80">
                <a:solidFill>
                  <a:srgbClr val="FFFFFF"/>
                </a:solidFill>
                <a:latin typeface="Montserrat"/>
              </a:rPr>
              <a:t>&amp;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971040"/>
            <a:ext cx="384048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spc="80">
                <a:solidFill>
                  <a:srgbClr val="FFFFFF"/>
                </a:solidFill>
                <a:latin typeface="Montserrat"/>
              </a:rPr>
              <a:t>DELIVER.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529840"/>
            <a:ext cx="457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707640"/>
            <a:ext cx="3749040" cy="6604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4520" y="2783840"/>
            <a:ext cx="36576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 b="1">
                <a:solidFill>
                  <a:srgbClr val="FFFFFF"/>
                </a:solidFill>
                <a:latin typeface="Montserrat"/>
              </a:rPr>
              <a:t>"Structure, deliver,
iterate."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777240"/>
            <a:ext cx="8257032" cy="1320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777240"/>
            <a:ext cx="8257032" cy="38100"/>
          </a:xfrm>
          <a:prstGeom prst="rect">
            <a:avLst/>
          </a:prstGeom>
          <a:solidFill>
            <a:srgbClr val="2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78680" y="980440"/>
            <a:ext cx="7952232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spc="400">
                <a:solidFill>
                  <a:srgbClr val="27BE82"/>
                </a:solidFill>
                <a:latin typeface="Montserrat"/>
              </a:rPr>
              <a:t>MY DAY-TO-DAY 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8680" y="1209040"/>
            <a:ext cx="79522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70D43"/>
                </a:solidFill>
                <a:latin typeface="Montserrat"/>
              </a:rPr>
              <a:t>Coordinating Finance data domain roadmap &amp; 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0280" y="1386840"/>
            <a:ext cx="78506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Backlog management and sprint planning with technical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0280" y="1564640"/>
            <a:ext cx="78506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Stakeholder reporting and demo facilitation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0280" y="1742440"/>
            <a:ext cx="78506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Cross-team alignment between Data Engineers &amp; Business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2189480"/>
            <a:ext cx="8257032" cy="149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80" y="2189480"/>
            <a:ext cx="8257032" cy="38100"/>
          </a:xfrm>
          <a:prstGeom prst="rect">
            <a:avLst/>
          </a:prstGeom>
          <a:solidFill>
            <a:srgbClr val="2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8680" y="2392680"/>
            <a:ext cx="7952232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spc="400">
                <a:solidFill>
                  <a:srgbClr val="27BE82"/>
                </a:solidFill>
                <a:latin typeface="Montserrat"/>
              </a:rPr>
              <a:t>PRODUCT LEAD DASHBOARD — AI WEB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8680" y="2621280"/>
            <a:ext cx="79522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70D43"/>
                </a:solidFill>
                <a:latin typeface="Montserrat"/>
              </a:rPr>
              <a:t>Product Lead Dashboard — AI Web App (React + Node.js)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0280" y="2799080"/>
            <a:ext cx="78506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Built to track sprint velocity, team capacity &amp; incidents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0280" y="2976880"/>
            <a:ext cx="78506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AI assistant with keyword matching on live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0280" y="3154680"/>
            <a:ext cx="78506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Deployed locally for Finance domain stakeholders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8680" y="3332480"/>
            <a:ext cx="795223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70D43"/>
                </a:solidFill>
                <a:latin typeface="Montserrat"/>
              </a:rPr>
              <a:t>→ 7 API endpoints  → 3 views  → Real-time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5310"/>
            <a:ext cx="12188952" cy="19050"/>
          </a:xfrm>
          <a:prstGeom prst="rect">
            <a:avLst/>
          </a:prstGeom>
          <a:solidFill>
            <a:srgbClr val="5DB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27432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spc="420">
                <a:solidFill>
                  <a:srgbClr val="692AAC"/>
                </a:solidFill>
                <a:latin typeface="Montserrat"/>
              </a:rPr>
              <a:t>L'ORÉAL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32004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spc="200">
                <a:solidFill>
                  <a:srgbClr val="692AAC"/>
                </a:solidFill>
                <a:latin typeface="Montserrat"/>
              </a:rPr>
              <a:t>BEAUTY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57200"/>
            <a:ext cx="274320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692AAC"/>
                </a:solidFill>
                <a:latin typeface="Montserrat"/>
              </a:rPr>
              <a:t>Finance ·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182880"/>
            <a:ext cx="914400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2AAC"/>
                </a:solidFill>
                <a:latin typeface="Courier New"/>
              </a:rPr>
              <a:t>04 / 04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88952" cy="25400"/>
          </a:xfrm>
          <a:prstGeom prst="rect">
            <a:avLst/>
          </a:prstGeom>
          <a:solidFill>
            <a:srgbClr val="5DB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777240"/>
            <a:ext cx="3840480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spc="500">
                <a:solidFill>
                  <a:srgbClr val="5DB5DF"/>
                </a:solidFill>
                <a:latin typeface="Courier New"/>
              </a:rPr>
              <a:t>04 · WHAT'S NEXT?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005840"/>
            <a:ext cx="384048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spc="80">
                <a:solidFill>
                  <a:srgbClr val="FFFFFF"/>
                </a:solidFill>
                <a:latin typeface="Montserrat"/>
              </a:rPr>
              <a:t>THE HORIZON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488440"/>
            <a:ext cx="384048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spc="80">
                <a:solidFill>
                  <a:srgbClr val="FFFFFF"/>
                </a:solidFill>
                <a:latin typeface="Montserrat"/>
              </a:rPr>
              <a:t>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971040"/>
            <a:ext cx="384048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spc="80">
                <a:solidFill>
                  <a:srgbClr val="FFFFFF"/>
                </a:solidFill>
                <a:latin typeface="Montserrat"/>
              </a:rPr>
              <a:t>POSSIBILITIES.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529840"/>
            <a:ext cx="457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707640"/>
            <a:ext cx="3749040" cy="6604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4520" y="2783840"/>
            <a:ext cx="36576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 b="1">
                <a:solidFill>
                  <a:srgbClr val="FFFFFF"/>
                </a:solidFill>
                <a:latin typeface="Montserrat"/>
              </a:rPr>
              <a:t>"Two paths,
one ambition."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777240"/>
            <a:ext cx="825703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878840"/>
            <a:ext cx="8257032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spc="400">
                <a:solidFill>
                  <a:srgbClr val="5DB5DF"/>
                </a:solidFill>
                <a:latin typeface="Montserrat"/>
              </a:rPr>
              <a:t>TWO PATHS, ONE AMBITION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1234440"/>
            <a:ext cx="4082796" cy="1320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1234440"/>
            <a:ext cx="4082796" cy="38100"/>
          </a:xfrm>
          <a:prstGeom prst="rect">
            <a:avLst/>
          </a:prstGeom>
          <a:solidFill>
            <a:srgbClr val="5DB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8680" y="1437640"/>
            <a:ext cx="3777996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spc="400">
                <a:solidFill>
                  <a:srgbClr val="5DB5DF"/>
                </a:solidFill>
                <a:latin typeface="Montserrat"/>
              </a:rPr>
              <a:t>CDI PRODUCT 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0280" y="1666240"/>
            <a:ext cx="367639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Natural continuation of the apprenticeship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0280" y="1844040"/>
            <a:ext cx="367639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Product vision &amp; Finance delivery ownership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0280" y="2021840"/>
            <a:ext cx="367639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Immediate &amp; measurable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0280" y="2199640"/>
            <a:ext cx="367639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Scale what has already been built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00516" y="1234440"/>
            <a:ext cx="4082796" cy="1320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00516" y="1234440"/>
            <a:ext cx="4082796" cy="38100"/>
          </a:xfrm>
          <a:prstGeom prst="rect">
            <a:avLst/>
          </a:prstGeom>
          <a:solidFill>
            <a:srgbClr val="5DB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52916" y="1437640"/>
            <a:ext cx="3777996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spc="400">
                <a:solidFill>
                  <a:srgbClr val="5DB5DF"/>
                </a:solidFill>
                <a:latin typeface="Montserrat"/>
              </a:rPr>
              <a:t>GRADUATE SEEDZ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4516" y="1666240"/>
            <a:ext cx="367639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Explore other domains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4516" y="1844040"/>
            <a:ext cx="367639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Cross-functional group vision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54516" y="2021840"/>
            <a:ext cx="367639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Accelerate skill development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4516" y="2199640"/>
            <a:ext cx="367639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74151"/>
                </a:solidFill>
                <a:latin typeface="Montserrat"/>
              </a:rPr>
              <a:t>→ Join a community of high-impact talents</a:t>
            </a:r>
          </a:p>
        </p:txBody>
      </p:sp>
      <p:pic>
        <p:nvPicPr>
          <p:cNvPr id="34" name="Picture 33" descr="seed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236" y="1188720"/>
            <a:ext cx="822960" cy="6126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