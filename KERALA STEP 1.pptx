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7" r:id="rId3"/>
    <p:sldId id="268" r:id="rId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9E0A00-95AE-CF81-CAA1-45D9303372C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1CBA8D0-3CDC-662D-5992-C5B42C2CC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E75DF4F-2397-E512-4D31-0A2D1C79FDBA}"/>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5" name="Espace réservé du pied de page 4">
            <a:extLst>
              <a:ext uri="{FF2B5EF4-FFF2-40B4-BE49-F238E27FC236}">
                <a16:creationId xmlns:a16="http://schemas.microsoft.com/office/drawing/2014/main" id="{9912A9FB-434C-B2DE-471F-1C815E3A245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635469E-679D-621A-06BD-E0AC6A3284F8}"/>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3872687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D2CAA8-447F-75AE-F6CA-8673C79AB9C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68B7561-4339-CAC3-D267-C309E4ADF96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4AB70F8-A95E-4A01-8069-FF6CE9430C31}"/>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5" name="Espace réservé du pied de page 4">
            <a:extLst>
              <a:ext uri="{FF2B5EF4-FFF2-40B4-BE49-F238E27FC236}">
                <a16:creationId xmlns:a16="http://schemas.microsoft.com/office/drawing/2014/main" id="{8E1B47CB-44B3-75DC-F6F9-16F750E418D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BA79DA8-580B-673E-B53E-8F05B1EC3393}"/>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3318740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2239C-9636-513E-0134-6BF113CEBC0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D741236-C364-612A-9B73-CD578735D2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10022B7-E225-32A7-95FB-980620DF47EB}"/>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5" name="Espace réservé du pied de page 4">
            <a:extLst>
              <a:ext uri="{FF2B5EF4-FFF2-40B4-BE49-F238E27FC236}">
                <a16:creationId xmlns:a16="http://schemas.microsoft.com/office/drawing/2014/main" id="{F0249E17-0576-8F5F-2132-AB1BD476290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574D0D6-28E5-A003-A4F2-12E9EFAB689E}"/>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39383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FB3DCF-8DBF-5B06-4AF5-9B27B8AD542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282F595-9AAC-4FA2-ECC8-88BABED1A06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8CB8CAF-8B53-F4F0-E68D-777B964D3F9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5825EFF-4355-E494-99DE-EC9759398D6E}"/>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6" name="Espace réservé du pied de page 5">
            <a:extLst>
              <a:ext uri="{FF2B5EF4-FFF2-40B4-BE49-F238E27FC236}">
                <a16:creationId xmlns:a16="http://schemas.microsoft.com/office/drawing/2014/main" id="{2BD94561-1963-37D2-5E3F-DC17969643A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D109F54-A525-F9F5-3267-1ECB51CEEE46}"/>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4209364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867222-8167-1C98-D195-5A1AA1D5B4B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681128A-FC33-E101-E18F-9B64F4EDB4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5AD6317-508E-ADF6-13E6-0EFC6B37858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BD8B596-F6C1-D3A6-8B0E-E25045849B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DF8CE9D-2A8C-EFEB-0D8D-948A3D79C5E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B25ABE3-8EB7-EC6C-F598-83583E4BC01B}"/>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8" name="Espace réservé du pied de page 7">
            <a:extLst>
              <a:ext uri="{FF2B5EF4-FFF2-40B4-BE49-F238E27FC236}">
                <a16:creationId xmlns:a16="http://schemas.microsoft.com/office/drawing/2014/main" id="{F767169D-3283-6682-1D4D-AE783930EC9E}"/>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DF198A0-76F5-610F-55E5-BF525894A4E8}"/>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4001776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E2307D-5BBC-8046-8407-F7D85FFE1A9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CC0CA14-5E4A-FB6C-1C11-8F093E43A84E}"/>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4" name="Espace réservé du pied de page 3">
            <a:extLst>
              <a:ext uri="{FF2B5EF4-FFF2-40B4-BE49-F238E27FC236}">
                <a16:creationId xmlns:a16="http://schemas.microsoft.com/office/drawing/2014/main" id="{645A47BD-6581-F9E9-E63F-EDCDA526B31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11C1467-1BC5-224D-F5AF-922E79852A48}"/>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1773445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55D7D5B-57B5-C133-44AB-45ED5D8E7C38}"/>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3" name="Espace réservé du pied de page 2">
            <a:extLst>
              <a:ext uri="{FF2B5EF4-FFF2-40B4-BE49-F238E27FC236}">
                <a16:creationId xmlns:a16="http://schemas.microsoft.com/office/drawing/2014/main" id="{83ABFFF4-9F22-CC4B-81C9-322DC1BB311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70C25AB-79C7-20DC-3A7A-79B37B389A56}"/>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193254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C35F7C-3C31-3051-ADFE-E98121E94C3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59200F1-CFFD-86C7-387C-4E35AAA78D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FA80A5B-22B9-5F9A-05C1-136983BC05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39BB8C7-3063-3E2B-7C00-D1799C4F453C}"/>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6" name="Espace réservé du pied de page 5">
            <a:extLst>
              <a:ext uri="{FF2B5EF4-FFF2-40B4-BE49-F238E27FC236}">
                <a16:creationId xmlns:a16="http://schemas.microsoft.com/office/drawing/2014/main" id="{34AE6AE1-D31F-4086-F516-ADAB236EC6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97CEABC-5412-70BE-E128-EB789F1A202D}"/>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3462716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BF6081-E9CE-80AD-2FA1-6B6C4B30029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3844434-7062-11A0-FB50-CE97C8B736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9F4B7DE-6939-D8BB-F952-D11AEDA32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2B72B83-EDC8-2EC8-E7F5-66285D0D3159}"/>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6" name="Espace réservé du pied de page 5">
            <a:extLst>
              <a:ext uri="{FF2B5EF4-FFF2-40B4-BE49-F238E27FC236}">
                <a16:creationId xmlns:a16="http://schemas.microsoft.com/office/drawing/2014/main" id="{37E99689-E772-6F68-6B1F-759B5EBB28E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D191957-2E94-70D0-5E24-F5CD7522713C}"/>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2682786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E626B0-8ECA-EC7D-946A-5355E6C1CCC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54CAFA1-A96C-1498-2E5A-CE835C5ED3C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EEE2489-80E9-D29C-2D7C-395DFD3E7BB2}"/>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5" name="Espace réservé du pied de page 4">
            <a:extLst>
              <a:ext uri="{FF2B5EF4-FFF2-40B4-BE49-F238E27FC236}">
                <a16:creationId xmlns:a16="http://schemas.microsoft.com/office/drawing/2014/main" id="{FA5F8A5E-BBC5-DDF3-E7E5-8B526DF5A94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B262014-AB3D-BA19-3000-CCCBECCDB811}"/>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604850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563AA64-BCA0-3F89-C860-AB01187813B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F4518ED-AE52-13B0-6639-530C9679D55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7F715FC-33DB-45B2-2847-17F2E03AF617}"/>
              </a:ext>
            </a:extLst>
          </p:cNvPr>
          <p:cNvSpPr>
            <a:spLocks noGrp="1"/>
          </p:cNvSpPr>
          <p:nvPr>
            <p:ph type="dt" sz="half" idx="10"/>
          </p:nvPr>
        </p:nvSpPr>
        <p:spPr/>
        <p:txBody>
          <a:bodyPr/>
          <a:lstStyle/>
          <a:p>
            <a:fld id="{961DD36F-B369-4808-8CA7-403C3A4B783C}" type="datetimeFigureOut">
              <a:rPr lang="fr-FR" smtClean="0"/>
              <a:t>05/06/2026</a:t>
            </a:fld>
            <a:endParaRPr lang="fr-FR"/>
          </a:p>
        </p:txBody>
      </p:sp>
      <p:sp>
        <p:nvSpPr>
          <p:cNvPr id="5" name="Espace réservé du pied de page 4">
            <a:extLst>
              <a:ext uri="{FF2B5EF4-FFF2-40B4-BE49-F238E27FC236}">
                <a16:creationId xmlns:a16="http://schemas.microsoft.com/office/drawing/2014/main" id="{0E9D51DA-41DA-AF0F-82D0-5546CCBFA57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9325628-B3AB-55E9-FF5E-97B0F0B19605}"/>
              </a:ext>
            </a:extLst>
          </p:cNvPr>
          <p:cNvSpPr>
            <a:spLocks noGrp="1"/>
          </p:cNvSpPr>
          <p:nvPr>
            <p:ph type="sldNum" sz="quarter" idx="12"/>
          </p:nvPr>
        </p:nvSpPr>
        <p:spPr/>
        <p:txBody>
          <a:bodyPr/>
          <a:lstStyle/>
          <a:p>
            <a:fld id="{11C9A156-67CD-4A85-A7AA-018EBD45A165}" type="slidenum">
              <a:rPr lang="fr-FR" smtClean="0"/>
              <a:t>‹N°›</a:t>
            </a:fld>
            <a:endParaRPr lang="fr-FR"/>
          </a:p>
        </p:txBody>
      </p:sp>
    </p:spTree>
    <p:extLst>
      <p:ext uri="{BB962C8B-B14F-4D97-AF65-F5344CB8AC3E}">
        <p14:creationId xmlns:p14="http://schemas.microsoft.com/office/powerpoint/2010/main" val="59271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556CE98-359E-8369-A3E5-9846047B11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F03017C-E86A-4657-7060-84D23FED96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917CA0F-82A0-1E9E-B724-837D50A91C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1DD36F-B369-4808-8CA7-403C3A4B783C}" type="datetimeFigureOut">
              <a:rPr lang="fr-FR" smtClean="0"/>
              <a:t>05/06/2026</a:t>
            </a:fld>
            <a:endParaRPr lang="fr-FR"/>
          </a:p>
        </p:txBody>
      </p:sp>
      <p:sp>
        <p:nvSpPr>
          <p:cNvPr id="5" name="Espace réservé du pied de page 4">
            <a:extLst>
              <a:ext uri="{FF2B5EF4-FFF2-40B4-BE49-F238E27FC236}">
                <a16:creationId xmlns:a16="http://schemas.microsoft.com/office/drawing/2014/main" id="{2FC99030-97EC-D458-9EB9-030195D565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21FD147-F867-2C89-F562-83B147D901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C9A156-67CD-4A85-A7AA-018EBD45A165}" type="slidenum">
              <a:rPr lang="fr-FR" smtClean="0"/>
              <a:t>‹N°›</a:t>
            </a:fld>
            <a:endParaRPr lang="fr-FR"/>
          </a:p>
        </p:txBody>
      </p:sp>
    </p:spTree>
    <p:extLst>
      <p:ext uri="{BB962C8B-B14F-4D97-AF65-F5344CB8AC3E}">
        <p14:creationId xmlns:p14="http://schemas.microsoft.com/office/powerpoint/2010/main" val="3993116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CD27F5E7-B7DE-B21B-FD5D-A653250EBB45}"/>
              </a:ext>
            </a:extLst>
          </p:cNvPr>
          <p:cNvPicPr>
            <a:picLocks noChangeAspect="1"/>
          </p:cNvPicPr>
          <p:nvPr/>
        </p:nvPicPr>
        <p:blipFill>
          <a:blip r:embed="rId2"/>
          <a:srcRect l="4180" r="7141"/>
          <a:stretch>
            <a:fillRect/>
          </a:stretch>
        </p:blipFill>
        <p:spPr>
          <a:xfrm>
            <a:off x="7967351" y="-1"/>
            <a:ext cx="4224651" cy="3346705"/>
          </a:xfrm>
          <a:custGeom>
            <a:avLst/>
            <a:gdLst/>
            <a:ahLst/>
            <a:cxnLst/>
            <a:rect l="l" t="t" r="r" b="b"/>
            <a:pathLst>
              <a:path w="4224651" h="3346705">
                <a:moveTo>
                  <a:pt x="1549963" y="0"/>
                </a:moveTo>
                <a:lnTo>
                  <a:pt x="1555540" y="0"/>
                </a:lnTo>
                <a:lnTo>
                  <a:pt x="2621768" y="0"/>
                </a:lnTo>
                <a:lnTo>
                  <a:pt x="4224651" y="0"/>
                </a:lnTo>
                <a:lnTo>
                  <a:pt x="4224651" y="3346705"/>
                </a:lnTo>
                <a:lnTo>
                  <a:pt x="0" y="3346705"/>
                </a:lnTo>
                <a:close/>
              </a:path>
            </a:pathLst>
          </a:custGeom>
        </p:spPr>
      </p:pic>
      <p:pic>
        <p:nvPicPr>
          <p:cNvPr id="9" name="Image 8">
            <a:extLst>
              <a:ext uri="{FF2B5EF4-FFF2-40B4-BE49-F238E27FC236}">
                <a16:creationId xmlns:a16="http://schemas.microsoft.com/office/drawing/2014/main" id="{35DBB29D-FD40-C67A-6C88-64768E83AD99}"/>
              </a:ext>
            </a:extLst>
          </p:cNvPr>
          <p:cNvPicPr>
            <a:picLocks noChangeAspect="1"/>
          </p:cNvPicPr>
          <p:nvPr/>
        </p:nvPicPr>
        <p:blipFill>
          <a:blip r:embed="rId3"/>
          <a:srcRect l="25498" r="6068" b="2"/>
          <a:stretch>
            <a:fillRect/>
          </a:stretch>
        </p:blipFill>
        <p:spPr>
          <a:xfrm>
            <a:off x="4493434" y="243"/>
            <a:ext cx="7698564" cy="3346705"/>
          </a:xfrm>
          <a:custGeom>
            <a:avLst/>
            <a:gdLst/>
            <a:ahLst/>
            <a:cxnLst/>
            <a:rect l="l" t="t" r="r" b="b"/>
            <a:pathLst>
              <a:path w="7698564" h="3346705">
                <a:moveTo>
                  <a:pt x="1549963" y="0"/>
                </a:moveTo>
                <a:lnTo>
                  <a:pt x="1555540" y="0"/>
                </a:lnTo>
                <a:lnTo>
                  <a:pt x="2621768" y="0"/>
                </a:lnTo>
                <a:lnTo>
                  <a:pt x="4832507" y="0"/>
                </a:lnTo>
                <a:lnTo>
                  <a:pt x="3282657" y="3346461"/>
                </a:lnTo>
                <a:lnTo>
                  <a:pt x="7698564" y="3346461"/>
                </a:lnTo>
                <a:lnTo>
                  <a:pt x="7698564" y="3346705"/>
                </a:lnTo>
                <a:lnTo>
                  <a:pt x="0" y="3346705"/>
                </a:lnTo>
                <a:close/>
              </a:path>
            </a:pathLst>
          </a:custGeom>
        </p:spPr>
      </p:pic>
      <p:pic>
        <p:nvPicPr>
          <p:cNvPr id="5" name="Image 4">
            <a:extLst>
              <a:ext uri="{FF2B5EF4-FFF2-40B4-BE49-F238E27FC236}">
                <a16:creationId xmlns:a16="http://schemas.microsoft.com/office/drawing/2014/main" id="{D5A6C704-B113-6552-3D4C-909B9E8B4D1C}"/>
              </a:ext>
            </a:extLst>
          </p:cNvPr>
          <p:cNvPicPr>
            <a:picLocks noChangeAspect="1"/>
          </p:cNvPicPr>
          <p:nvPr/>
        </p:nvPicPr>
        <p:blipFill>
          <a:blip r:embed="rId4"/>
          <a:srcRect r="5016" b="3"/>
          <a:stretch>
            <a:fillRect/>
          </a:stretch>
        </p:blipFill>
        <p:spPr>
          <a:xfrm>
            <a:off x="20" y="10"/>
            <a:ext cx="5859777" cy="3346695"/>
          </a:xfrm>
          <a:custGeom>
            <a:avLst/>
            <a:gdLst/>
            <a:ahLst/>
            <a:cxnLst/>
            <a:rect l="l" t="t" r="r" b="b"/>
            <a:pathLst>
              <a:path w="5859797" h="3346705">
                <a:moveTo>
                  <a:pt x="0" y="0"/>
                </a:moveTo>
                <a:lnTo>
                  <a:pt x="5859797" y="0"/>
                </a:lnTo>
                <a:lnTo>
                  <a:pt x="4309834" y="3346705"/>
                </a:lnTo>
                <a:lnTo>
                  <a:pt x="4304257" y="3346705"/>
                </a:lnTo>
                <a:lnTo>
                  <a:pt x="3238029" y="3346705"/>
                </a:lnTo>
                <a:lnTo>
                  <a:pt x="0" y="3346705"/>
                </a:lnTo>
                <a:close/>
              </a:path>
            </a:pathLst>
          </a:custGeom>
        </p:spPr>
      </p:pic>
      <p:pic>
        <p:nvPicPr>
          <p:cNvPr id="15" name="Image 14">
            <a:extLst>
              <a:ext uri="{FF2B5EF4-FFF2-40B4-BE49-F238E27FC236}">
                <a16:creationId xmlns:a16="http://schemas.microsoft.com/office/drawing/2014/main" id="{567ED78C-3069-F1B4-1693-7D4D1058550B}"/>
              </a:ext>
            </a:extLst>
          </p:cNvPr>
          <p:cNvPicPr>
            <a:picLocks noChangeAspect="1"/>
          </p:cNvPicPr>
          <p:nvPr/>
        </p:nvPicPr>
        <p:blipFill>
          <a:blip r:embed="rId5"/>
          <a:srcRect t="22689" r="-1" b="15968"/>
          <a:stretch>
            <a:fillRect/>
          </a:stretch>
        </p:blipFill>
        <p:spPr>
          <a:xfrm>
            <a:off x="6350090" y="3511295"/>
            <a:ext cx="5841911" cy="3346705"/>
          </a:xfrm>
          <a:custGeom>
            <a:avLst/>
            <a:gdLst/>
            <a:ahLst/>
            <a:cxnLst/>
            <a:rect l="l" t="t" r="r" b="b"/>
            <a:pathLst>
              <a:path w="5841911" h="3346705">
                <a:moveTo>
                  <a:pt x="1549963" y="0"/>
                </a:moveTo>
                <a:lnTo>
                  <a:pt x="1555540" y="0"/>
                </a:lnTo>
                <a:lnTo>
                  <a:pt x="2621768" y="0"/>
                </a:lnTo>
                <a:lnTo>
                  <a:pt x="5841911" y="0"/>
                </a:lnTo>
                <a:lnTo>
                  <a:pt x="5841911" y="3346705"/>
                </a:lnTo>
                <a:lnTo>
                  <a:pt x="0" y="3346705"/>
                </a:lnTo>
                <a:close/>
              </a:path>
            </a:pathLst>
          </a:custGeom>
        </p:spPr>
      </p:pic>
      <p:pic>
        <p:nvPicPr>
          <p:cNvPr id="11" name="Image 10">
            <a:extLst>
              <a:ext uri="{FF2B5EF4-FFF2-40B4-BE49-F238E27FC236}">
                <a16:creationId xmlns:a16="http://schemas.microsoft.com/office/drawing/2014/main" id="{0294FD34-9805-FE1D-DB7F-AA0D24D14760}"/>
              </a:ext>
            </a:extLst>
          </p:cNvPr>
          <p:cNvPicPr>
            <a:picLocks noChangeAspect="1"/>
          </p:cNvPicPr>
          <p:nvPr/>
        </p:nvPicPr>
        <p:blipFill>
          <a:blip r:embed="rId6"/>
          <a:srcRect l="3945" r="310" b="-1"/>
          <a:stretch>
            <a:fillRect/>
          </a:stretch>
        </p:blipFill>
        <p:spPr>
          <a:xfrm>
            <a:off x="2861892" y="3511296"/>
            <a:ext cx="4836673" cy="3346705"/>
          </a:xfrm>
          <a:custGeom>
            <a:avLst/>
            <a:gdLst/>
            <a:ahLst/>
            <a:cxnLst/>
            <a:rect l="l" t="t" r="r" b="b"/>
            <a:pathLst>
              <a:path w="4836673" h="3346705">
                <a:moveTo>
                  <a:pt x="1549963" y="0"/>
                </a:moveTo>
                <a:lnTo>
                  <a:pt x="4836673" y="0"/>
                </a:lnTo>
                <a:lnTo>
                  <a:pt x="3286710" y="3346705"/>
                </a:lnTo>
                <a:lnTo>
                  <a:pt x="3281133" y="3346705"/>
                </a:lnTo>
                <a:lnTo>
                  <a:pt x="2214905" y="3346705"/>
                </a:lnTo>
                <a:lnTo>
                  <a:pt x="0" y="3346705"/>
                </a:lnTo>
                <a:close/>
              </a:path>
            </a:pathLst>
          </a:custGeom>
        </p:spPr>
      </p:pic>
      <p:pic>
        <p:nvPicPr>
          <p:cNvPr id="17" name="Image 16">
            <a:extLst>
              <a:ext uri="{FF2B5EF4-FFF2-40B4-BE49-F238E27FC236}">
                <a16:creationId xmlns:a16="http://schemas.microsoft.com/office/drawing/2014/main" id="{9AEF7295-C7B4-F44E-9CCA-3C600AE3219E}"/>
              </a:ext>
            </a:extLst>
          </p:cNvPr>
          <p:cNvPicPr>
            <a:picLocks noChangeAspect="1"/>
          </p:cNvPicPr>
          <p:nvPr/>
        </p:nvPicPr>
        <p:blipFill>
          <a:blip r:embed="rId7"/>
          <a:srcRect t="2430" r="-1" b="11002"/>
          <a:stretch>
            <a:fillRect/>
          </a:stretch>
        </p:blipFill>
        <p:spPr>
          <a:xfrm>
            <a:off x="-3" y="3511295"/>
            <a:ext cx="4213642" cy="3346705"/>
          </a:xfrm>
          <a:custGeom>
            <a:avLst/>
            <a:gdLst/>
            <a:ahLst/>
            <a:cxnLst/>
            <a:rect l="l" t="t" r="r" b="b"/>
            <a:pathLst>
              <a:path w="4213642" h="3346705">
                <a:moveTo>
                  <a:pt x="0" y="0"/>
                </a:moveTo>
                <a:lnTo>
                  <a:pt x="4213642" y="0"/>
                </a:lnTo>
                <a:lnTo>
                  <a:pt x="2663679" y="3346705"/>
                </a:lnTo>
                <a:lnTo>
                  <a:pt x="2658102" y="3346705"/>
                </a:lnTo>
                <a:lnTo>
                  <a:pt x="1591874" y="3346705"/>
                </a:lnTo>
                <a:lnTo>
                  <a:pt x="0" y="3346705"/>
                </a:lnTo>
                <a:close/>
              </a:path>
            </a:pathLst>
          </a:custGeom>
        </p:spPr>
      </p:pic>
      <p:sp>
        <p:nvSpPr>
          <p:cNvPr id="19" name="ZoneTexte 18">
            <a:extLst>
              <a:ext uri="{FF2B5EF4-FFF2-40B4-BE49-F238E27FC236}">
                <a16:creationId xmlns:a16="http://schemas.microsoft.com/office/drawing/2014/main" id="{44B599F7-D15E-D94D-B590-60E686804E37}"/>
              </a:ext>
            </a:extLst>
          </p:cNvPr>
          <p:cNvSpPr txBox="1"/>
          <p:nvPr/>
        </p:nvSpPr>
        <p:spPr>
          <a:xfrm>
            <a:off x="-7" y="1567440"/>
            <a:ext cx="12192007" cy="2339102"/>
          </a:xfrm>
          <a:prstGeom prst="rect">
            <a:avLst/>
          </a:prstGeom>
          <a:noFill/>
          <a:ln>
            <a:noFill/>
          </a:ln>
        </p:spPr>
        <p:txBody>
          <a:bodyPr wrap="square" rtlCol="0">
            <a:spAutoFit/>
          </a:bodyPr>
          <a:lstStyle/>
          <a:p>
            <a:pPr algn="ctr"/>
            <a:r>
              <a:rPr lang="fr-FR" sz="14600" b="1" dirty="0">
                <a:ln w="47625">
                  <a:solidFill>
                    <a:srgbClr val="FFC000"/>
                  </a:solidFill>
                </a:ln>
                <a:solidFill>
                  <a:schemeClr val="bg1">
                    <a:alpha val="50000"/>
                  </a:schemeClr>
                </a:solidFill>
              </a:rPr>
              <a:t>KERALA SHOP</a:t>
            </a:r>
          </a:p>
        </p:txBody>
      </p:sp>
    </p:spTree>
    <p:extLst>
      <p:ext uri="{BB962C8B-B14F-4D97-AF65-F5344CB8AC3E}">
        <p14:creationId xmlns:p14="http://schemas.microsoft.com/office/powerpoint/2010/main" val="384624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C483-F005-EDD1-4FDA-EFA7455C785C}"/>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AC13C6A9-B283-DE77-6F13-8F0EAC29E05B}"/>
              </a:ext>
            </a:extLst>
          </p:cNvPr>
          <p:cNvSpPr txBox="1"/>
          <p:nvPr/>
        </p:nvSpPr>
        <p:spPr>
          <a:xfrm>
            <a:off x="-1" y="7832"/>
            <a:ext cx="7269479" cy="1107996"/>
          </a:xfrm>
          <a:prstGeom prst="rect">
            <a:avLst/>
          </a:prstGeom>
          <a:noFill/>
          <a:ln>
            <a:noFill/>
          </a:ln>
        </p:spPr>
        <p:txBody>
          <a:bodyPr wrap="square" rtlCol="0">
            <a:spAutoFit/>
          </a:bodyPr>
          <a:lstStyle/>
          <a:p>
            <a:pPr algn="ctr"/>
            <a:r>
              <a:rPr lang="fr-FR" sz="6600" b="1" dirty="0">
                <a:ln w="38100">
                  <a:solidFill>
                    <a:srgbClr val="FFC000"/>
                  </a:solidFill>
                </a:ln>
                <a:solidFill>
                  <a:schemeClr val="bg1">
                    <a:alpha val="50000"/>
                  </a:schemeClr>
                </a:solidFill>
              </a:rPr>
              <a:t>KERALA SHOP</a:t>
            </a:r>
          </a:p>
        </p:txBody>
      </p:sp>
      <p:sp>
        <p:nvSpPr>
          <p:cNvPr id="4" name="ZoneTexte 3">
            <a:extLst>
              <a:ext uri="{FF2B5EF4-FFF2-40B4-BE49-F238E27FC236}">
                <a16:creationId xmlns:a16="http://schemas.microsoft.com/office/drawing/2014/main" id="{EFFC9F6A-EE80-57BE-3E49-938C66559CDB}"/>
              </a:ext>
            </a:extLst>
          </p:cNvPr>
          <p:cNvSpPr txBox="1"/>
          <p:nvPr/>
        </p:nvSpPr>
        <p:spPr>
          <a:xfrm>
            <a:off x="200750" y="1118369"/>
            <a:ext cx="4828450" cy="369332"/>
          </a:xfrm>
          <a:prstGeom prst="rect">
            <a:avLst/>
          </a:prstGeom>
          <a:noFill/>
        </p:spPr>
        <p:txBody>
          <a:bodyPr wrap="square" rtlCol="0">
            <a:spAutoFit/>
          </a:bodyPr>
          <a:lstStyle/>
          <a:p>
            <a:r>
              <a:rPr lang="fr-FR" dirty="0"/>
              <a:t>&gt; Online business </a:t>
            </a:r>
            <a:r>
              <a:rPr lang="fr-FR" dirty="0" err="1"/>
              <a:t>created</a:t>
            </a:r>
            <a:r>
              <a:rPr lang="fr-FR" dirty="0"/>
              <a:t> in January 2025</a:t>
            </a:r>
          </a:p>
        </p:txBody>
      </p:sp>
      <p:sp>
        <p:nvSpPr>
          <p:cNvPr id="5" name="ZoneTexte 4">
            <a:extLst>
              <a:ext uri="{FF2B5EF4-FFF2-40B4-BE49-F238E27FC236}">
                <a16:creationId xmlns:a16="http://schemas.microsoft.com/office/drawing/2014/main" id="{9BCCFAD1-76E8-4A49-A24E-E4AC1C3A48D7}"/>
              </a:ext>
            </a:extLst>
          </p:cNvPr>
          <p:cNvSpPr txBox="1"/>
          <p:nvPr/>
        </p:nvSpPr>
        <p:spPr>
          <a:xfrm>
            <a:off x="200750" y="1487701"/>
            <a:ext cx="2807208" cy="369332"/>
          </a:xfrm>
          <a:prstGeom prst="rect">
            <a:avLst/>
          </a:prstGeom>
          <a:noFill/>
        </p:spPr>
        <p:txBody>
          <a:bodyPr wrap="square" rtlCol="0">
            <a:spAutoFit/>
          </a:bodyPr>
          <a:lstStyle/>
          <a:p>
            <a:r>
              <a:rPr lang="fr-FR" dirty="0"/>
              <a:t>&gt; Drop-shipping</a:t>
            </a:r>
          </a:p>
        </p:txBody>
      </p:sp>
      <p:sp>
        <p:nvSpPr>
          <p:cNvPr id="6" name="ZoneTexte 5">
            <a:extLst>
              <a:ext uri="{FF2B5EF4-FFF2-40B4-BE49-F238E27FC236}">
                <a16:creationId xmlns:a16="http://schemas.microsoft.com/office/drawing/2014/main" id="{155D00FC-8431-6E33-80CC-3807D63A2127}"/>
              </a:ext>
            </a:extLst>
          </p:cNvPr>
          <p:cNvSpPr txBox="1"/>
          <p:nvPr/>
        </p:nvSpPr>
        <p:spPr>
          <a:xfrm>
            <a:off x="200750" y="2046625"/>
            <a:ext cx="3959352" cy="369332"/>
          </a:xfrm>
          <a:prstGeom prst="rect">
            <a:avLst/>
          </a:prstGeom>
          <a:noFill/>
        </p:spPr>
        <p:txBody>
          <a:bodyPr wrap="square" rtlCol="0">
            <a:spAutoFit/>
          </a:bodyPr>
          <a:lstStyle/>
          <a:p>
            <a:r>
              <a:rPr lang="fr-FR" dirty="0"/>
              <a:t>&gt; </a:t>
            </a:r>
            <a:r>
              <a:rPr lang="fr-FR" dirty="0" err="1"/>
              <a:t>Customers</a:t>
            </a:r>
            <a:r>
              <a:rPr lang="fr-FR" dirty="0"/>
              <a:t> place </a:t>
            </a:r>
            <a:r>
              <a:rPr lang="fr-FR" dirty="0" err="1"/>
              <a:t>orders</a:t>
            </a:r>
            <a:r>
              <a:rPr lang="fr-FR" dirty="0"/>
              <a:t> online</a:t>
            </a:r>
          </a:p>
        </p:txBody>
      </p:sp>
      <p:sp>
        <p:nvSpPr>
          <p:cNvPr id="7" name="ZoneTexte 6">
            <a:extLst>
              <a:ext uri="{FF2B5EF4-FFF2-40B4-BE49-F238E27FC236}">
                <a16:creationId xmlns:a16="http://schemas.microsoft.com/office/drawing/2014/main" id="{F760888C-B048-C4E2-8E19-DE96E7EEE156}"/>
              </a:ext>
            </a:extLst>
          </p:cNvPr>
          <p:cNvSpPr txBox="1"/>
          <p:nvPr/>
        </p:nvSpPr>
        <p:spPr>
          <a:xfrm>
            <a:off x="200750" y="2415957"/>
            <a:ext cx="5202936" cy="369332"/>
          </a:xfrm>
          <a:prstGeom prst="rect">
            <a:avLst/>
          </a:prstGeom>
          <a:noFill/>
        </p:spPr>
        <p:txBody>
          <a:bodyPr wrap="square" rtlCol="0">
            <a:spAutoFit/>
          </a:bodyPr>
          <a:lstStyle/>
          <a:p>
            <a:r>
              <a:rPr lang="fr-FR" dirty="0"/>
              <a:t>&gt; </a:t>
            </a:r>
            <a:r>
              <a:rPr lang="fr-FR" dirty="0" err="1"/>
              <a:t>Suppliers</a:t>
            </a:r>
            <a:r>
              <a:rPr lang="fr-FR" dirty="0"/>
              <a:t> </a:t>
            </a:r>
            <a:r>
              <a:rPr lang="fr-FR" dirty="0" err="1"/>
              <a:t>send</a:t>
            </a:r>
            <a:r>
              <a:rPr lang="fr-FR" dirty="0"/>
              <a:t> </a:t>
            </a:r>
            <a:r>
              <a:rPr lang="fr-FR" dirty="0" err="1"/>
              <a:t>their</a:t>
            </a:r>
            <a:r>
              <a:rPr lang="fr-FR" dirty="0"/>
              <a:t> </a:t>
            </a:r>
            <a:r>
              <a:rPr lang="fr-FR" dirty="0" err="1"/>
              <a:t>products</a:t>
            </a:r>
            <a:r>
              <a:rPr lang="fr-FR" dirty="0"/>
              <a:t> to </a:t>
            </a:r>
            <a:r>
              <a:rPr lang="fr-FR" dirty="0" err="1"/>
              <a:t>Customers</a:t>
            </a:r>
            <a:r>
              <a:rPr lang="fr-FR" dirty="0"/>
              <a:t>.</a:t>
            </a:r>
          </a:p>
        </p:txBody>
      </p:sp>
      <p:sp>
        <p:nvSpPr>
          <p:cNvPr id="8" name="ZoneTexte 7">
            <a:extLst>
              <a:ext uri="{FF2B5EF4-FFF2-40B4-BE49-F238E27FC236}">
                <a16:creationId xmlns:a16="http://schemas.microsoft.com/office/drawing/2014/main" id="{C1C8BE88-64C7-6334-CAE5-2D513F6E2FA7}"/>
              </a:ext>
            </a:extLst>
          </p:cNvPr>
          <p:cNvSpPr txBox="1"/>
          <p:nvPr/>
        </p:nvSpPr>
        <p:spPr>
          <a:xfrm>
            <a:off x="200750" y="3159468"/>
            <a:ext cx="6995160" cy="923330"/>
          </a:xfrm>
          <a:prstGeom prst="rect">
            <a:avLst/>
          </a:prstGeom>
          <a:noFill/>
        </p:spPr>
        <p:txBody>
          <a:bodyPr wrap="square" rtlCol="0">
            <a:spAutoFit/>
          </a:bodyPr>
          <a:lstStyle/>
          <a:p>
            <a:r>
              <a:rPr lang="fr-FR" dirty="0"/>
              <a:t>You are </a:t>
            </a:r>
            <a:r>
              <a:rPr lang="fr-FR" dirty="0" err="1"/>
              <a:t>testing</a:t>
            </a:r>
            <a:r>
              <a:rPr lang="fr-FR" dirty="0"/>
              <a:t> the </a:t>
            </a:r>
            <a:r>
              <a:rPr lang="fr-FR" dirty="0" err="1"/>
              <a:t>market</a:t>
            </a:r>
            <a:r>
              <a:rPr lang="fr-FR" dirty="0"/>
              <a:t> </a:t>
            </a:r>
            <a:r>
              <a:rPr lang="fr-FR" dirty="0" err="1"/>
              <a:t>with</a:t>
            </a:r>
            <a:r>
              <a:rPr lang="fr-FR" dirty="0"/>
              <a:t> 4 </a:t>
            </a:r>
            <a:r>
              <a:rPr lang="fr-FR" dirty="0" err="1"/>
              <a:t>categories</a:t>
            </a:r>
            <a:r>
              <a:rPr lang="fr-FR" dirty="0"/>
              <a:t> of </a:t>
            </a:r>
            <a:r>
              <a:rPr lang="fr-FR" dirty="0" err="1"/>
              <a:t>products</a:t>
            </a:r>
            <a:r>
              <a:rPr lang="fr-FR" dirty="0"/>
              <a:t>: Textile, </a:t>
            </a:r>
            <a:r>
              <a:rPr lang="fr-FR" dirty="0" err="1"/>
              <a:t>Furniture</a:t>
            </a:r>
            <a:r>
              <a:rPr lang="fr-FR" dirty="0"/>
              <a:t>, Tea and Jewels. At the moment </a:t>
            </a:r>
            <a:r>
              <a:rPr lang="fr-FR" dirty="0" err="1"/>
              <a:t>you</a:t>
            </a:r>
            <a:r>
              <a:rPr lang="fr-FR" dirty="0"/>
              <a:t> </a:t>
            </a:r>
            <a:r>
              <a:rPr lang="fr-FR" dirty="0" err="1"/>
              <a:t>work</a:t>
            </a:r>
            <a:r>
              <a:rPr lang="fr-FR" dirty="0"/>
              <a:t> </a:t>
            </a:r>
            <a:r>
              <a:rPr lang="fr-FR" dirty="0" err="1"/>
              <a:t>with</a:t>
            </a:r>
            <a:r>
              <a:rPr lang="fr-FR" dirty="0"/>
              <a:t> 1 supplier </a:t>
            </a:r>
            <a:r>
              <a:rPr lang="fr-FR" dirty="0" err="1"/>
              <a:t>only</a:t>
            </a:r>
            <a:r>
              <a:rPr lang="fr-FR" dirty="0"/>
              <a:t>.</a:t>
            </a:r>
          </a:p>
        </p:txBody>
      </p:sp>
      <p:sp>
        <p:nvSpPr>
          <p:cNvPr id="9" name="Rectangle 8">
            <a:extLst>
              <a:ext uri="{FF2B5EF4-FFF2-40B4-BE49-F238E27FC236}">
                <a16:creationId xmlns:a16="http://schemas.microsoft.com/office/drawing/2014/main" id="{A77EE4FB-D827-BE72-7E0E-7AD7EFD9C40D}"/>
              </a:ext>
            </a:extLst>
          </p:cNvPr>
          <p:cNvSpPr/>
          <p:nvPr/>
        </p:nvSpPr>
        <p:spPr>
          <a:xfrm>
            <a:off x="0" y="4320050"/>
            <a:ext cx="7269480" cy="2537950"/>
          </a:xfrm>
          <a:prstGeom prst="rect">
            <a:avLst/>
          </a:prstGeom>
          <a:solidFill>
            <a:schemeClr val="accent4">
              <a:lumMod val="75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b="1" dirty="0"/>
              <a:t>As </a:t>
            </a:r>
            <a:r>
              <a:rPr lang="fr-FR" sz="2400" b="1" dirty="0" err="1"/>
              <a:t>from</a:t>
            </a:r>
            <a:r>
              <a:rPr lang="fr-FR" sz="2400" b="1" dirty="0"/>
              <a:t> the </a:t>
            </a:r>
            <a:r>
              <a:rPr lang="fr-FR" sz="2400" b="1" dirty="0" err="1"/>
              <a:t>Customers’s</a:t>
            </a:r>
            <a:r>
              <a:rPr lang="fr-FR" sz="2400" b="1" dirty="0"/>
              <a:t> </a:t>
            </a:r>
            <a:r>
              <a:rPr lang="fr-FR" sz="2400" b="1" dirty="0" err="1"/>
              <a:t>reviews</a:t>
            </a:r>
            <a:r>
              <a:rPr lang="fr-FR" sz="2400" b="1" dirty="0"/>
              <a:t>, </a:t>
            </a:r>
            <a:r>
              <a:rPr lang="fr-FR" sz="2400" b="1" dirty="0" err="1"/>
              <a:t>list</a:t>
            </a:r>
            <a:r>
              <a:rPr lang="fr-FR" sz="2400" b="1" dirty="0"/>
              <a:t> the </a:t>
            </a:r>
            <a:r>
              <a:rPr lang="fr-FR" sz="2400" b="1" dirty="0" err="1"/>
              <a:t>strenghts</a:t>
            </a:r>
            <a:r>
              <a:rPr lang="fr-FR" sz="2400" b="1" dirty="0"/>
              <a:t> and </a:t>
            </a:r>
            <a:r>
              <a:rPr lang="fr-FR" sz="2400" b="1" dirty="0" err="1"/>
              <a:t>weaknesses</a:t>
            </a:r>
            <a:r>
              <a:rPr lang="fr-FR" sz="2400" b="1" dirty="0"/>
              <a:t> of </a:t>
            </a:r>
            <a:r>
              <a:rPr lang="fr-FR" sz="2400" b="1" dirty="0" err="1"/>
              <a:t>your</a:t>
            </a:r>
            <a:r>
              <a:rPr lang="fr-FR" sz="2400" b="1" dirty="0"/>
              <a:t> brand.</a:t>
            </a:r>
          </a:p>
        </p:txBody>
      </p:sp>
      <p:sp>
        <p:nvSpPr>
          <p:cNvPr id="10" name="Rectangle 9">
            <a:extLst>
              <a:ext uri="{FF2B5EF4-FFF2-40B4-BE49-F238E27FC236}">
                <a16:creationId xmlns:a16="http://schemas.microsoft.com/office/drawing/2014/main" id="{D479C59F-D6D5-5EE4-5EB4-B12BFB67DD37}"/>
              </a:ext>
            </a:extLst>
          </p:cNvPr>
          <p:cNvSpPr/>
          <p:nvPr/>
        </p:nvSpPr>
        <p:spPr>
          <a:xfrm>
            <a:off x="7269480" y="0"/>
            <a:ext cx="4922520" cy="6858000"/>
          </a:xfrm>
          <a:prstGeom prst="rect">
            <a:avLst/>
          </a:prstGeom>
          <a:solidFill>
            <a:srgbClr val="FFC000">
              <a:alpha val="5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1B51ADFA-2423-5AF4-DEA6-EE8C06C2C018}"/>
              </a:ext>
            </a:extLst>
          </p:cNvPr>
          <p:cNvSpPr txBox="1"/>
          <p:nvPr/>
        </p:nvSpPr>
        <p:spPr>
          <a:xfrm>
            <a:off x="7343048" y="294392"/>
            <a:ext cx="4648202" cy="1169551"/>
          </a:xfrm>
          <a:prstGeom prst="rect">
            <a:avLst/>
          </a:prstGeom>
          <a:noFill/>
        </p:spPr>
        <p:txBody>
          <a:bodyPr wrap="square" rtlCol="0">
            <a:spAutoFit/>
          </a:bodyPr>
          <a:lstStyle/>
          <a:p>
            <a:r>
              <a:rPr lang="fr-FR" sz="1400" dirty="0"/>
              <a:t>The </a:t>
            </a:r>
            <a:r>
              <a:rPr lang="fr-FR" sz="1400" dirty="0" err="1"/>
              <a:t>nightstand</a:t>
            </a:r>
            <a:r>
              <a:rPr lang="fr-FR" sz="1400" dirty="0"/>
              <a:t> I </a:t>
            </a:r>
            <a:r>
              <a:rPr lang="fr-FR" sz="1400" dirty="0" err="1"/>
              <a:t>bought</a:t>
            </a:r>
            <a:r>
              <a:rPr lang="fr-FR" sz="1400" dirty="0"/>
              <a:t> </a:t>
            </a:r>
            <a:r>
              <a:rPr lang="fr-FR" sz="1400" dirty="0" err="1"/>
              <a:t>is</a:t>
            </a:r>
            <a:r>
              <a:rPr lang="fr-FR" sz="1400" dirty="0"/>
              <a:t> </a:t>
            </a:r>
            <a:r>
              <a:rPr lang="fr-FR" sz="1400" dirty="0" err="1"/>
              <a:t>really</a:t>
            </a:r>
            <a:r>
              <a:rPr lang="fr-FR" sz="1400" dirty="0"/>
              <a:t> </a:t>
            </a:r>
            <a:r>
              <a:rPr lang="fr-FR" sz="1400" dirty="0" err="1"/>
              <a:t>nice</a:t>
            </a:r>
            <a:r>
              <a:rPr lang="fr-FR" sz="1400" dirty="0"/>
              <a:t>. The </a:t>
            </a:r>
            <a:r>
              <a:rPr lang="fr-FR" sz="1400" dirty="0" err="1"/>
              <a:t>wood</a:t>
            </a:r>
            <a:r>
              <a:rPr lang="fr-FR" sz="1400" dirty="0"/>
              <a:t> </a:t>
            </a:r>
            <a:r>
              <a:rPr lang="fr-FR" sz="1400" dirty="0" err="1"/>
              <a:t>is</a:t>
            </a:r>
            <a:r>
              <a:rPr lang="fr-FR" sz="1400" dirty="0"/>
              <a:t> high </a:t>
            </a:r>
            <a:r>
              <a:rPr lang="fr-FR" sz="1400" dirty="0" err="1"/>
              <a:t>quality</a:t>
            </a:r>
            <a:r>
              <a:rPr lang="fr-FR" sz="1400" dirty="0"/>
              <a:t> and the </a:t>
            </a:r>
            <a:r>
              <a:rPr lang="fr-FR" sz="1400" dirty="0" err="1"/>
              <a:t>details</a:t>
            </a:r>
            <a:r>
              <a:rPr lang="fr-FR" sz="1400" dirty="0"/>
              <a:t> of the sculptures are </a:t>
            </a:r>
            <a:r>
              <a:rPr lang="fr-FR" sz="1400" dirty="0" err="1"/>
              <a:t>really</a:t>
            </a:r>
            <a:r>
              <a:rPr lang="fr-FR" sz="1400" dirty="0"/>
              <a:t> </a:t>
            </a:r>
            <a:r>
              <a:rPr lang="fr-FR" sz="1400" dirty="0" err="1"/>
              <a:t>well</a:t>
            </a:r>
            <a:r>
              <a:rPr lang="fr-FR" sz="1400" dirty="0"/>
              <a:t> </a:t>
            </a:r>
            <a:r>
              <a:rPr lang="fr-FR" sz="1400" dirty="0" err="1"/>
              <a:t>done</a:t>
            </a:r>
            <a:r>
              <a:rPr lang="fr-FR" sz="1400" dirty="0"/>
              <a:t>. The </a:t>
            </a:r>
            <a:r>
              <a:rPr lang="fr-FR" sz="1400" dirty="0" err="1"/>
              <a:t>nightstand</a:t>
            </a:r>
            <a:r>
              <a:rPr lang="fr-FR" sz="1400" dirty="0"/>
              <a:t> </a:t>
            </a:r>
            <a:r>
              <a:rPr lang="fr-FR" sz="1400" dirty="0" err="1"/>
              <a:t>price</a:t>
            </a:r>
            <a:r>
              <a:rPr lang="fr-FR" sz="1400" dirty="0"/>
              <a:t> </a:t>
            </a:r>
            <a:r>
              <a:rPr lang="fr-FR" sz="1400" dirty="0" err="1"/>
              <a:t>is</a:t>
            </a:r>
            <a:r>
              <a:rPr lang="fr-FR" sz="1400" dirty="0"/>
              <a:t> good but the </a:t>
            </a:r>
            <a:r>
              <a:rPr lang="fr-FR" sz="1400" dirty="0" err="1"/>
              <a:t>delivery</a:t>
            </a:r>
            <a:r>
              <a:rPr lang="fr-FR" sz="1400" dirty="0"/>
              <a:t> </a:t>
            </a:r>
            <a:r>
              <a:rPr lang="fr-FR" sz="1400" dirty="0" err="1"/>
              <a:t>costs</a:t>
            </a:r>
            <a:r>
              <a:rPr lang="fr-FR" sz="1400" dirty="0"/>
              <a:t> are </a:t>
            </a:r>
            <a:r>
              <a:rPr lang="fr-FR" sz="1400" dirty="0" err="1"/>
              <a:t>very</a:t>
            </a:r>
            <a:r>
              <a:rPr lang="fr-FR" sz="1400" dirty="0"/>
              <a:t> high! At </a:t>
            </a:r>
            <a:r>
              <a:rPr lang="fr-FR" sz="1400" dirty="0" err="1"/>
              <a:t>this</a:t>
            </a:r>
            <a:r>
              <a:rPr lang="fr-FR" sz="1400" dirty="0"/>
              <a:t> </a:t>
            </a:r>
            <a:r>
              <a:rPr lang="fr-FR" sz="1400" dirty="0" err="1"/>
              <a:t>price</a:t>
            </a:r>
            <a:r>
              <a:rPr lang="fr-FR" sz="1400" dirty="0"/>
              <a:t>, I </a:t>
            </a:r>
            <a:r>
              <a:rPr lang="fr-FR" sz="1400" dirty="0" err="1"/>
              <a:t>was</a:t>
            </a:r>
            <a:r>
              <a:rPr lang="fr-FR" sz="1400" dirty="0"/>
              <a:t> </a:t>
            </a:r>
            <a:r>
              <a:rPr lang="fr-FR" sz="1400" dirty="0" err="1"/>
              <a:t>expecting</a:t>
            </a:r>
            <a:r>
              <a:rPr lang="fr-FR" sz="1400" dirty="0"/>
              <a:t> to </a:t>
            </a:r>
            <a:r>
              <a:rPr lang="fr-FR" sz="1400" dirty="0" err="1"/>
              <a:t>receive</a:t>
            </a:r>
            <a:r>
              <a:rPr lang="fr-FR" sz="1400" dirty="0"/>
              <a:t> </a:t>
            </a:r>
            <a:r>
              <a:rPr lang="fr-FR" sz="1400" dirty="0" err="1"/>
              <a:t>it</a:t>
            </a:r>
            <a:r>
              <a:rPr lang="fr-FR" sz="1400" dirty="0"/>
              <a:t> </a:t>
            </a:r>
            <a:r>
              <a:rPr lang="fr-FR" sz="1400" dirty="0" err="1"/>
              <a:t>quickly</a:t>
            </a:r>
            <a:r>
              <a:rPr lang="fr-FR" sz="1400" dirty="0"/>
              <a:t> but </a:t>
            </a:r>
            <a:r>
              <a:rPr lang="fr-FR" sz="1400" dirty="0" err="1"/>
              <a:t>it</a:t>
            </a:r>
            <a:r>
              <a:rPr lang="fr-FR" sz="1400" dirty="0"/>
              <a:t> </a:t>
            </a:r>
            <a:r>
              <a:rPr lang="fr-FR" sz="1400" dirty="0" err="1"/>
              <a:t>took</a:t>
            </a:r>
            <a:r>
              <a:rPr lang="fr-FR" sz="1400" dirty="0"/>
              <a:t> 10 </a:t>
            </a:r>
            <a:r>
              <a:rPr lang="fr-FR" sz="1400" dirty="0" err="1"/>
              <a:t>days</a:t>
            </a:r>
            <a:r>
              <a:rPr lang="fr-FR" sz="1400" dirty="0"/>
              <a:t>…</a:t>
            </a:r>
          </a:p>
        </p:txBody>
      </p:sp>
      <p:grpSp>
        <p:nvGrpSpPr>
          <p:cNvPr id="23" name="Groupe 22">
            <a:extLst>
              <a:ext uri="{FF2B5EF4-FFF2-40B4-BE49-F238E27FC236}">
                <a16:creationId xmlns:a16="http://schemas.microsoft.com/office/drawing/2014/main" id="{ACF3468F-1CE9-5AF1-A2C3-8C6D534ED57C}"/>
              </a:ext>
            </a:extLst>
          </p:cNvPr>
          <p:cNvGrpSpPr/>
          <p:nvPr/>
        </p:nvGrpSpPr>
        <p:grpSpPr>
          <a:xfrm>
            <a:off x="7467600" y="105416"/>
            <a:ext cx="1088688" cy="194812"/>
            <a:chOff x="7467600" y="315728"/>
            <a:chExt cx="1088688" cy="194812"/>
          </a:xfrm>
        </p:grpSpPr>
        <p:sp>
          <p:nvSpPr>
            <p:cNvPr id="2" name="Étoile : 5 branches 1">
              <a:extLst>
                <a:ext uri="{FF2B5EF4-FFF2-40B4-BE49-F238E27FC236}">
                  <a16:creationId xmlns:a16="http://schemas.microsoft.com/office/drawing/2014/main" id="{3EC10F45-7808-BDF2-6EFE-4D6DA26154EE}"/>
                </a:ext>
              </a:extLst>
            </p:cNvPr>
            <p:cNvSpPr/>
            <p:nvPr/>
          </p:nvSpPr>
          <p:spPr>
            <a:xfrm>
              <a:off x="7467600" y="321564"/>
              <a:ext cx="195072" cy="188976"/>
            </a:xfrm>
            <a:prstGeom prst="star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Étoile : 5 branches 2">
              <a:extLst>
                <a:ext uri="{FF2B5EF4-FFF2-40B4-BE49-F238E27FC236}">
                  <a16:creationId xmlns:a16="http://schemas.microsoft.com/office/drawing/2014/main" id="{E35D5328-177D-7BB7-F220-730CA4E0E259}"/>
                </a:ext>
              </a:extLst>
            </p:cNvPr>
            <p:cNvSpPr/>
            <p:nvPr/>
          </p:nvSpPr>
          <p:spPr>
            <a:xfrm>
              <a:off x="7689688" y="321564"/>
              <a:ext cx="195072" cy="188976"/>
            </a:xfrm>
            <a:prstGeom prst="star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Étoile : 5 branches 12">
              <a:extLst>
                <a:ext uri="{FF2B5EF4-FFF2-40B4-BE49-F238E27FC236}">
                  <a16:creationId xmlns:a16="http://schemas.microsoft.com/office/drawing/2014/main" id="{0055CC08-CB49-9260-A407-CE1D8CD1EDCC}"/>
                </a:ext>
              </a:extLst>
            </p:cNvPr>
            <p:cNvSpPr/>
            <p:nvPr/>
          </p:nvSpPr>
          <p:spPr>
            <a:xfrm>
              <a:off x="7911776" y="321564"/>
              <a:ext cx="195072" cy="188976"/>
            </a:xfrm>
            <a:prstGeom prst="star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Étoile : 5 branches 14">
              <a:extLst>
                <a:ext uri="{FF2B5EF4-FFF2-40B4-BE49-F238E27FC236}">
                  <a16:creationId xmlns:a16="http://schemas.microsoft.com/office/drawing/2014/main" id="{5421BBFC-9CC5-0D41-1EEA-A12EEA848A36}"/>
                </a:ext>
              </a:extLst>
            </p:cNvPr>
            <p:cNvSpPr/>
            <p:nvPr/>
          </p:nvSpPr>
          <p:spPr>
            <a:xfrm>
              <a:off x="8133864" y="321564"/>
              <a:ext cx="195072" cy="188976"/>
            </a:xfrm>
            <a:prstGeom prst="star5">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Étoile : 5 branches 15">
              <a:extLst>
                <a:ext uri="{FF2B5EF4-FFF2-40B4-BE49-F238E27FC236}">
                  <a16:creationId xmlns:a16="http://schemas.microsoft.com/office/drawing/2014/main" id="{766563CB-37A2-743D-1E3F-F2D2D311C1DF}"/>
                </a:ext>
              </a:extLst>
            </p:cNvPr>
            <p:cNvSpPr/>
            <p:nvPr/>
          </p:nvSpPr>
          <p:spPr>
            <a:xfrm>
              <a:off x="8361216" y="315728"/>
              <a:ext cx="195072" cy="188976"/>
            </a:xfrm>
            <a:prstGeom prst="star5">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7" name="ZoneTexte 16">
            <a:extLst>
              <a:ext uri="{FF2B5EF4-FFF2-40B4-BE49-F238E27FC236}">
                <a16:creationId xmlns:a16="http://schemas.microsoft.com/office/drawing/2014/main" id="{C7341F19-A3B0-F066-001B-08F106D6ED7E}"/>
              </a:ext>
            </a:extLst>
          </p:cNvPr>
          <p:cNvSpPr txBox="1"/>
          <p:nvPr/>
        </p:nvSpPr>
        <p:spPr>
          <a:xfrm>
            <a:off x="7343048" y="1758335"/>
            <a:ext cx="4506052" cy="2462213"/>
          </a:xfrm>
          <a:prstGeom prst="rect">
            <a:avLst/>
          </a:prstGeom>
          <a:noFill/>
        </p:spPr>
        <p:txBody>
          <a:bodyPr wrap="square" rtlCol="0">
            <a:spAutoFit/>
          </a:bodyPr>
          <a:lstStyle/>
          <a:p>
            <a:r>
              <a:rPr lang="en-US" sz="1400" dirty="0"/>
              <a:t>The products themselves may be nice, but the delivery experience completely ruined my purchase. I paid a surprisingly high shipping fee and still had to wait 10 days for my order to arrive. For those delivery costs, I expected either express shipping or at least better communication regarding the shipment status. There are many online stores offering similar products with much lower shipping fees and faster delivery. The furniture quality was good, but the logistics service is simply not competitive. I would hesitate before ordering again.</a:t>
            </a:r>
            <a:endParaRPr lang="fr-FR" sz="1400" dirty="0"/>
          </a:p>
        </p:txBody>
      </p:sp>
      <p:grpSp>
        <p:nvGrpSpPr>
          <p:cNvPr id="24" name="Groupe 23">
            <a:extLst>
              <a:ext uri="{FF2B5EF4-FFF2-40B4-BE49-F238E27FC236}">
                <a16:creationId xmlns:a16="http://schemas.microsoft.com/office/drawing/2014/main" id="{F6A980CA-AEBE-B657-09E6-92BFB07C6077}"/>
              </a:ext>
            </a:extLst>
          </p:cNvPr>
          <p:cNvGrpSpPr/>
          <p:nvPr/>
        </p:nvGrpSpPr>
        <p:grpSpPr>
          <a:xfrm>
            <a:off x="7423956" y="1577239"/>
            <a:ext cx="1088688" cy="202172"/>
            <a:chOff x="7423956" y="2410121"/>
            <a:chExt cx="1088688" cy="202172"/>
          </a:xfrm>
        </p:grpSpPr>
        <p:sp>
          <p:nvSpPr>
            <p:cNvPr id="18" name="Étoile : 5 branches 17">
              <a:extLst>
                <a:ext uri="{FF2B5EF4-FFF2-40B4-BE49-F238E27FC236}">
                  <a16:creationId xmlns:a16="http://schemas.microsoft.com/office/drawing/2014/main" id="{B0FF2CC7-9510-887E-D717-D091A1090BC9}"/>
                </a:ext>
              </a:extLst>
            </p:cNvPr>
            <p:cNvSpPr/>
            <p:nvPr/>
          </p:nvSpPr>
          <p:spPr>
            <a:xfrm>
              <a:off x="7423956" y="2415957"/>
              <a:ext cx="195072" cy="188976"/>
            </a:xfrm>
            <a:prstGeom prst="star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Étoile : 5 branches 18">
              <a:extLst>
                <a:ext uri="{FF2B5EF4-FFF2-40B4-BE49-F238E27FC236}">
                  <a16:creationId xmlns:a16="http://schemas.microsoft.com/office/drawing/2014/main" id="{EA330B04-58EB-287E-15F0-4421568BCAF8}"/>
                </a:ext>
              </a:extLst>
            </p:cNvPr>
            <p:cNvSpPr/>
            <p:nvPr/>
          </p:nvSpPr>
          <p:spPr>
            <a:xfrm>
              <a:off x="8090220" y="2415957"/>
              <a:ext cx="195072" cy="188976"/>
            </a:xfrm>
            <a:prstGeom prst="star5">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Étoile : 5 branches 19">
              <a:extLst>
                <a:ext uri="{FF2B5EF4-FFF2-40B4-BE49-F238E27FC236}">
                  <a16:creationId xmlns:a16="http://schemas.microsoft.com/office/drawing/2014/main" id="{30835EFA-9AD7-C76A-07C8-78649E0D24E5}"/>
                </a:ext>
              </a:extLst>
            </p:cNvPr>
            <p:cNvSpPr/>
            <p:nvPr/>
          </p:nvSpPr>
          <p:spPr>
            <a:xfrm>
              <a:off x="8317572" y="2410121"/>
              <a:ext cx="195072" cy="188976"/>
            </a:xfrm>
            <a:prstGeom prst="star5">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Étoile : 5 branches 20">
              <a:extLst>
                <a:ext uri="{FF2B5EF4-FFF2-40B4-BE49-F238E27FC236}">
                  <a16:creationId xmlns:a16="http://schemas.microsoft.com/office/drawing/2014/main" id="{989F3722-E1E3-BA50-802C-87E80C5C9252}"/>
                </a:ext>
              </a:extLst>
            </p:cNvPr>
            <p:cNvSpPr/>
            <p:nvPr/>
          </p:nvSpPr>
          <p:spPr>
            <a:xfrm>
              <a:off x="7658376" y="2423317"/>
              <a:ext cx="195072" cy="188976"/>
            </a:xfrm>
            <a:prstGeom prst="star5">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Étoile : 5 branches 21">
              <a:extLst>
                <a:ext uri="{FF2B5EF4-FFF2-40B4-BE49-F238E27FC236}">
                  <a16:creationId xmlns:a16="http://schemas.microsoft.com/office/drawing/2014/main" id="{CC76A3D5-93D4-96ED-5579-7D89C543B644}"/>
                </a:ext>
              </a:extLst>
            </p:cNvPr>
            <p:cNvSpPr/>
            <p:nvPr/>
          </p:nvSpPr>
          <p:spPr>
            <a:xfrm>
              <a:off x="7885728" y="2417481"/>
              <a:ext cx="195072" cy="188976"/>
            </a:xfrm>
            <a:prstGeom prst="star5">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ZoneTexte 24">
            <a:extLst>
              <a:ext uri="{FF2B5EF4-FFF2-40B4-BE49-F238E27FC236}">
                <a16:creationId xmlns:a16="http://schemas.microsoft.com/office/drawing/2014/main" id="{A4662C2D-CF7B-879C-B712-11F89BDF34CE}"/>
              </a:ext>
            </a:extLst>
          </p:cNvPr>
          <p:cNvSpPr txBox="1"/>
          <p:nvPr/>
        </p:nvSpPr>
        <p:spPr>
          <a:xfrm>
            <a:off x="7423956" y="4388448"/>
            <a:ext cx="4419600" cy="2462213"/>
          </a:xfrm>
          <a:prstGeom prst="rect">
            <a:avLst/>
          </a:prstGeom>
          <a:noFill/>
        </p:spPr>
        <p:txBody>
          <a:bodyPr wrap="square" rtlCol="0">
            <a:spAutoFit/>
          </a:bodyPr>
          <a:lstStyle/>
          <a:p>
            <a:r>
              <a:rPr lang="en-US" sz="1400" dirty="0"/>
              <a:t>"I recently purchased a teak garden dining table and six chairs from Kerala Shop, and I am extremely impressed with the craftsmanship. The wood quality is outstanding, the finish is beautiful, and the furniture feels incredibly solid. I also added a few decorative items and some premium Indian tea to my order, and everything exceeded my expectations. The only downside is the shipping cost, which felt quite expensive considering the delivery took about 9 days. Nevertheless, the quality of the products makes it worth considering future purchases."</a:t>
            </a:r>
            <a:endParaRPr lang="fr-FR" sz="1400" dirty="0"/>
          </a:p>
        </p:txBody>
      </p:sp>
      <p:grpSp>
        <p:nvGrpSpPr>
          <p:cNvPr id="26" name="Groupe 25">
            <a:extLst>
              <a:ext uri="{FF2B5EF4-FFF2-40B4-BE49-F238E27FC236}">
                <a16:creationId xmlns:a16="http://schemas.microsoft.com/office/drawing/2014/main" id="{005AEC62-6749-740E-A41C-B44ED3BEDBF2}"/>
              </a:ext>
            </a:extLst>
          </p:cNvPr>
          <p:cNvGrpSpPr/>
          <p:nvPr/>
        </p:nvGrpSpPr>
        <p:grpSpPr>
          <a:xfrm>
            <a:off x="7438920" y="4207092"/>
            <a:ext cx="1088688" cy="194812"/>
            <a:chOff x="7467600" y="315728"/>
            <a:chExt cx="1088688" cy="194812"/>
          </a:xfrm>
        </p:grpSpPr>
        <p:sp>
          <p:nvSpPr>
            <p:cNvPr id="27" name="Étoile : 5 branches 26">
              <a:extLst>
                <a:ext uri="{FF2B5EF4-FFF2-40B4-BE49-F238E27FC236}">
                  <a16:creationId xmlns:a16="http://schemas.microsoft.com/office/drawing/2014/main" id="{A0189BB6-88CB-C15F-6F29-FFF17E759035}"/>
                </a:ext>
              </a:extLst>
            </p:cNvPr>
            <p:cNvSpPr/>
            <p:nvPr/>
          </p:nvSpPr>
          <p:spPr>
            <a:xfrm>
              <a:off x="7467600" y="321564"/>
              <a:ext cx="195072" cy="188976"/>
            </a:xfrm>
            <a:prstGeom prst="star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Étoile : 5 branches 27">
              <a:extLst>
                <a:ext uri="{FF2B5EF4-FFF2-40B4-BE49-F238E27FC236}">
                  <a16:creationId xmlns:a16="http://schemas.microsoft.com/office/drawing/2014/main" id="{A19E24A4-EDA0-01E0-9583-B6AF82B16835}"/>
                </a:ext>
              </a:extLst>
            </p:cNvPr>
            <p:cNvSpPr/>
            <p:nvPr/>
          </p:nvSpPr>
          <p:spPr>
            <a:xfrm>
              <a:off x="7689688" y="321564"/>
              <a:ext cx="195072" cy="188976"/>
            </a:xfrm>
            <a:prstGeom prst="star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Étoile : 5 branches 28">
              <a:extLst>
                <a:ext uri="{FF2B5EF4-FFF2-40B4-BE49-F238E27FC236}">
                  <a16:creationId xmlns:a16="http://schemas.microsoft.com/office/drawing/2014/main" id="{2F4C12F6-E9F4-5C48-2ADB-5623A157F563}"/>
                </a:ext>
              </a:extLst>
            </p:cNvPr>
            <p:cNvSpPr/>
            <p:nvPr/>
          </p:nvSpPr>
          <p:spPr>
            <a:xfrm>
              <a:off x="7911776" y="321564"/>
              <a:ext cx="195072" cy="188976"/>
            </a:xfrm>
            <a:prstGeom prst="star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Étoile : 5 branches 29">
              <a:extLst>
                <a:ext uri="{FF2B5EF4-FFF2-40B4-BE49-F238E27FC236}">
                  <a16:creationId xmlns:a16="http://schemas.microsoft.com/office/drawing/2014/main" id="{D85AB63C-FF9D-A906-E00E-1CB994218270}"/>
                </a:ext>
              </a:extLst>
            </p:cNvPr>
            <p:cNvSpPr/>
            <p:nvPr/>
          </p:nvSpPr>
          <p:spPr>
            <a:xfrm>
              <a:off x="8133864" y="321564"/>
              <a:ext cx="195072" cy="188976"/>
            </a:xfrm>
            <a:prstGeom prst="star5">
              <a:avLst/>
            </a:prstGeom>
            <a:solidFill>
              <a:schemeClr val="accent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Étoile : 5 branches 30">
              <a:extLst>
                <a:ext uri="{FF2B5EF4-FFF2-40B4-BE49-F238E27FC236}">
                  <a16:creationId xmlns:a16="http://schemas.microsoft.com/office/drawing/2014/main" id="{BF75B196-06D8-84C5-E2B5-26D4622CA05E}"/>
                </a:ext>
              </a:extLst>
            </p:cNvPr>
            <p:cNvSpPr/>
            <p:nvPr/>
          </p:nvSpPr>
          <p:spPr>
            <a:xfrm>
              <a:off x="8361216" y="315728"/>
              <a:ext cx="195072" cy="188976"/>
            </a:xfrm>
            <a:prstGeom prst="star5">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34712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7B48AC77-8E83-591B-CA14-B85039E4E109}"/>
              </a:ext>
            </a:extLst>
          </p:cNvPr>
          <p:cNvSpPr txBox="1"/>
          <p:nvPr/>
        </p:nvSpPr>
        <p:spPr>
          <a:xfrm>
            <a:off x="-1" y="7832"/>
            <a:ext cx="7269479" cy="1107996"/>
          </a:xfrm>
          <a:prstGeom prst="rect">
            <a:avLst/>
          </a:prstGeom>
          <a:noFill/>
          <a:ln>
            <a:noFill/>
          </a:ln>
        </p:spPr>
        <p:txBody>
          <a:bodyPr wrap="square" rtlCol="0">
            <a:spAutoFit/>
          </a:bodyPr>
          <a:lstStyle/>
          <a:p>
            <a:pPr algn="ctr"/>
            <a:r>
              <a:rPr lang="fr-FR" sz="6600" b="1" dirty="0">
                <a:ln w="38100">
                  <a:solidFill>
                    <a:srgbClr val="FFC000"/>
                  </a:solidFill>
                </a:ln>
                <a:solidFill>
                  <a:schemeClr val="bg1">
                    <a:alpha val="50000"/>
                  </a:schemeClr>
                </a:solidFill>
              </a:rPr>
              <a:t>KERALA SHOP</a:t>
            </a:r>
          </a:p>
        </p:txBody>
      </p:sp>
      <p:sp>
        <p:nvSpPr>
          <p:cNvPr id="8" name="ZoneTexte 7">
            <a:extLst>
              <a:ext uri="{FF2B5EF4-FFF2-40B4-BE49-F238E27FC236}">
                <a16:creationId xmlns:a16="http://schemas.microsoft.com/office/drawing/2014/main" id="{11060B55-492D-F998-1F47-CF41EF24395F}"/>
              </a:ext>
            </a:extLst>
          </p:cNvPr>
          <p:cNvSpPr txBox="1"/>
          <p:nvPr/>
        </p:nvSpPr>
        <p:spPr>
          <a:xfrm>
            <a:off x="200750" y="1536452"/>
            <a:ext cx="6995160" cy="923330"/>
          </a:xfrm>
          <a:prstGeom prst="rect">
            <a:avLst/>
          </a:prstGeom>
          <a:noFill/>
        </p:spPr>
        <p:txBody>
          <a:bodyPr wrap="square" rtlCol="0">
            <a:spAutoFit/>
          </a:bodyPr>
          <a:lstStyle/>
          <a:p>
            <a:r>
              <a:rPr lang="fr-FR" dirty="0"/>
              <a:t>On the right </a:t>
            </a:r>
            <a:r>
              <a:rPr lang="fr-FR" dirty="0" err="1"/>
              <a:t>side</a:t>
            </a:r>
            <a:r>
              <a:rPr lang="fr-FR" dirty="0"/>
              <a:t> </a:t>
            </a:r>
            <a:r>
              <a:rPr lang="fr-FR" dirty="0" err="1"/>
              <a:t>is</a:t>
            </a:r>
            <a:r>
              <a:rPr lang="fr-FR" dirty="0"/>
              <a:t> the </a:t>
            </a:r>
            <a:r>
              <a:rPr lang="fr-FR" dirty="0" err="1"/>
              <a:t>current</a:t>
            </a:r>
            <a:r>
              <a:rPr lang="fr-FR" dirty="0"/>
              <a:t> process as </a:t>
            </a:r>
            <a:r>
              <a:rPr lang="fr-FR" dirty="0" err="1"/>
              <a:t>from</a:t>
            </a:r>
            <a:r>
              <a:rPr lang="fr-FR" dirty="0"/>
              <a:t> the </a:t>
            </a:r>
            <a:r>
              <a:rPr lang="fr-FR" dirty="0" err="1"/>
              <a:t>Customer’s</a:t>
            </a:r>
            <a:r>
              <a:rPr lang="fr-FR" dirty="0"/>
              <a:t> </a:t>
            </a:r>
            <a:r>
              <a:rPr lang="fr-FR" dirty="0" err="1"/>
              <a:t>order</a:t>
            </a:r>
            <a:r>
              <a:rPr lang="fr-FR" dirty="0"/>
              <a:t> to the </a:t>
            </a:r>
            <a:r>
              <a:rPr lang="fr-FR" dirty="0" err="1"/>
              <a:t>delivery</a:t>
            </a:r>
            <a:r>
              <a:rPr lang="fr-FR" dirty="0"/>
              <a:t> at </a:t>
            </a:r>
            <a:r>
              <a:rPr lang="fr-FR" dirty="0" err="1"/>
              <a:t>their</a:t>
            </a:r>
            <a:r>
              <a:rPr lang="fr-FR" dirty="0"/>
              <a:t> home.</a:t>
            </a:r>
          </a:p>
          <a:p>
            <a:r>
              <a:rPr lang="fr-FR" dirty="0"/>
              <a:t>Times for </a:t>
            </a:r>
            <a:r>
              <a:rPr lang="fr-FR" dirty="0" err="1"/>
              <a:t>each</a:t>
            </a:r>
            <a:r>
              <a:rPr lang="fr-FR" dirty="0"/>
              <a:t> action are </a:t>
            </a:r>
            <a:r>
              <a:rPr lang="fr-FR" dirty="0" err="1"/>
              <a:t>available</a:t>
            </a:r>
            <a:r>
              <a:rPr lang="fr-FR" dirty="0"/>
              <a:t> on Excel </a:t>
            </a:r>
            <a:r>
              <a:rPr lang="fr-FR" dirty="0" err="1"/>
              <a:t>Sheet</a:t>
            </a:r>
            <a:r>
              <a:rPr lang="fr-FR" dirty="0"/>
              <a:t>.</a:t>
            </a:r>
          </a:p>
        </p:txBody>
      </p:sp>
      <p:sp>
        <p:nvSpPr>
          <p:cNvPr id="9" name="Rectangle 8">
            <a:extLst>
              <a:ext uri="{FF2B5EF4-FFF2-40B4-BE49-F238E27FC236}">
                <a16:creationId xmlns:a16="http://schemas.microsoft.com/office/drawing/2014/main" id="{CCA781D1-B3C0-F5B8-3313-BAD134AF831D}"/>
              </a:ext>
            </a:extLst>
          </p:cNvPr>
          <p:cNvSpPr/>
          <p:nvPr/>
        </p:nvSpPr>
        <p:spPr>
          <a:xfrm>
            <a:off x="0" y="3429000"/>
            <a:ext cx="7269480" cy="3429000"/>
          </a:xfrm>
          <a:prstGeom prst="rect">
            <a:avLst/>
          </a:prstGeom>
          <a:solidFill>
            <a:schemeClr val="accent4">
              <a:lumMod val="75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b="1" dirty="0" err="1"/>
              <a:t>Draw</a:t>
            </a:r>
            <a:r>
              <a:rPr lang="fr-FR" sz="2400" b="1" dirty="0"/>
              <a:t> the </a:t>
            </a:r>
            <a:r>
              <a:rPr lang="fr-FR" sz="2400" b="1" dirty="0" err="1"/>
              <a:t>work</a:t>
            </a:r>
            <a:r>
              <a:rPr lang="fr-FR" sz="2400" b="1" dirty="0"/>
              <a:t> flow and </a:t>
            </a:r>
            <a:r>
              <a:rPr lang="fr-FR" sz="2400" b="1" dirty="0" err="1"/>
              <a:t>products</a:t>
            </a:r>
            <a:r>
              <a:rPr lang="fr-FR" sz="2400" b="1" dirty="0"/>
              <a:t> flow as </a:t>
            </a:r>
            <a:r>
              <a:rPr lang="fr-FR" sz="2400" b="1" dirty="0" err="1"/>
              <a:t>it</a:t>
            </a:r>
            <a:r>
              <a:rPr lang="fr-FR" sz="2400" b="1" dirty="0"/>
              <a:t> </a:t>
            </a:r>
            <a:r>
              <a:rPr lang="fr-FR" sz="2400" b="1" dirty="0" err="1"/>
              <a:t>is</a:t>
            </a:r>
            <a:r>
              <a:rPr lang="fr-FR" sz="2400" b="1" dirty="0"/>
              <a:t> </a:t>
            </a:r>
            <a:r>
              <a:rPr lang="fr-FR" sz="2400" b="1" dirty="0" err="1"/>
              <a:t>today</a:t>
            </a:r>
            <a:r>
              <a:rPr lang="fr-FR" sz="2400" b="1" dirty="0"/>
              <a:t>.</a:t>
            </a:r>
            <a:br>
              <a:rPr lang="fr-FR" sz="2400" b="1" dirty="0"/>
            </a:br>
            <a:br>
              <a:rPr lang="fr-FR" sz="2400" b="1" dirty="0"/>
            </a:br>
            <a:r>
              <a:rPr lang="fr-FR" sz="2400" b="1" dirty="0"/>
              <a:t>Put a </a:t>
            </a:r>
            <a:r>
              <a:rPr lang="fr-FR" sz="2400" b="1" dirty="0" err="1"/>
              <a:t>different</a:t>
            </a:r>
            <a:r>
              <a:rPr lang="fr-FR" sz="2400" b="1" dirty="0"/>
              <a:t> </a:t>
            </a:r>
            <a:r>
              <a:rPr lang="fr-FR" sz="2400" b="1" dirty="0" err="1"/>
              <a:t>color</a:t>
            </a:r>
            <a:r>
              <a:rPr lang="fr-FR" sz="2400" b="1" dirty="0"/>
              <a:t>, </a:t>
            </a:r>
            <a:r>
              <a:rPr lang="fr-FR" sz="2400" b="1" dirty="0" err="1"/>
              <a:t>depending</a:t>
            </a:r>
            <a:r>
              <a:rPr lang="fr-FR" sz="2400" b="1" dirty="0"/>
              <a:t> on </a:t>
            </a:r>
            <a:r>
              <a:rPr lang="fr-FR" sz="2400" b="1" dirty="0" err="1"/>
              <a:t>which</a:t>
            </a:r>
            <a:r>
              <a:rPr lang="fr-FR" sz="2400" b="1" dirty="0"/>
              <a:t> </a:t>
            </a:r>
            <a:r>
              <a:rPr lang="fr-FR" sz="2400" b="1" dirty="0" err="1"/>
              <a:t>company</a:t>
            </a:r>
            <a:r>
              <a:rPr lang="fr-FR" sz="2400" b="1" dirty="0"/>
              <a:t> </a:t>
            </a:r>
            <a:r>
              <a:rPr lang="fr-FR" sz="2400" b="1" dirty="0" err="1"/>
              <a:t>is</a:t>
            </a:r>
            <a:r>
              <a:rPr lang="fr-FR" sz="2400" b="1" dirty="0"/>
              <a:t> </a:t>
            </a:r>
            <a:r>
              <a:rPr lang="fr-FR" sz="2400" b="1" dirty="0" err="1"/>
              <a:t>doing</a:t>
            </a:r>
            <a:r>
              <a:rPr lang="fr-FR" sz="2400" b="1" dirty="0"/>
              <a:t> the action.</a:t>
            </a:r>
          </a:p>
        </p:txBody>
      </p:sp>
      <p:sp>
        <p:nvSpPr>
          <p:cNvPr id="10" name="Rectangle 9">
            <a:extLst>
              <a:ext uri="{FF2B5EF4-FFF2-40B4-BE49-F238E27FC236}">
                <a16:creationId xmlns:a16="http://schemas.microsoft.com/office/drawing/2014/main" id="{47FD093A-8636-4EF2-3C93-F75103090CA5}"/>
              </a:ext>
            </a:extLst>
          </p:cNvPr>
          <p:cNvSpPr/>
          <p:nvPr/>
        </p:nvSpPr>
        <p:spPr>
          <a:xfrm>
            <a:off x="7269480" y="0"/>
            <a:ext cx="4922520" cy="6858000"/>
          </a:xfrm>
          <a:prstGeom prst="rect">
            <a:avLst/>
          </a:prstGeom>
          <a:solidFill>
            <a:srgbClr val="FFC000">
              <a:alpha val="5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51773012-1944-9F2F-47BD-C9A735C84D66}"/>
              </a:ext>
            </a:extLst>
          </p:cNvPr>
          <p:cNvSpPr txBox="1"/>
          <p:nvPr/>
        </p:nvSpPr>
        <p:spPr>
          <a:xfrm>
            <a:off x="7343048" y="212617"/>
            <a:ext cx="4648202" cy="6555641"/>
          </a:xfrm>
          <a:prstGeom prst="rect">
            <a:avLst/>
          </a:prstGeom>
          <a:noFill/>
        </p:spPr>
        <p:txBody>
          <a:bodyPr wrap="square" rtlCol="0">
            <a:spAutoFit/>
          </a:bodyPr>
          <a:lstStyle/>
          <a:p>
            <a:pPr marL="342900" indent="-342900">
              <a:buAutoNum type="arabicPeriod"/>
            </a:pPr>
            <a:r>
              <a:rPr lang="fr-FR" sz="1400" dirty="0" err="1"/>
              <a:t>Customers</a:t>
            </a:r>
            <a:r>
              <a:rPr lang="fr-FR" sz="1400" dirty="0"/>
              <a:t> </a:t>
            </a:r>
            <a:r>
              <a:rPr lang="fr-FR" sz="1400" dirty="0" err="1"/>
              <a:t>orders</a:t>
            </a:r>
            <a:r>
              <a:rPr lang="fr-FR" sz="1400" dirty="0"/>
              <a:t> online via </a:t>
            </a:r>
            <a:r>
              <a:rPr lang="fr-FR" sz="1400" dirty="0" err="1"/>
              <a:t>our</a:t>
            </a:r>
            <a:r>
              <a:rPr lang="fr-FR" sz="1400" dirty="0"/>
              <a:t> </a:t>
            </a:r>
            <a:r>
              <a:rPr lang="fr-FR" sz="1400" dirty="0" err="1"/>
              <a:t>website</a:t>
            </a:r>
            <a:endParaRPr lang="fr-FR" sz="1400" dirty="0"/>
          </a:p>
          <a:p>
            <a:pPr marL="342900" indent="-342900">
              <a:buAutoNum type="arabicPeriod"/>
            </a:pPr>
            <a:r>
              <a:rPr lang="fr-FR" sz="1400" dirty="0"/>
              <a:t>Our supplier </a:t>
            </a:r>
            <a:r>
              <a:rPr lang="fr-FR" sz="1400" dirty="0" err="1"/>
              <a:t>receives</a:t>
            </a:r>
            <a:r>
              <a:rPr lang="fr-FR" sz="1400" dirty="0"/>
              <a:t> the </a:t>
            </a:r>
            <a:r>
              <a:rPr lang="fr-FR" sz="1400" dirty="0" err="1"/>
              <a:t>order</a:t>
            </a:r>
            <a:r>
              <a:rPr lang="fr-FR" sz="1400" dirty="0"/>
              <a:t> by email.</a:t>
            </a:r>
          </a:p>
          <a:p>
            <a:pPr marL="342900" indent="-342900">
              <a:buAutoNum type="arabicPeriod"/>
            </a:pPr>
            <a:r>
              <a:rPr lang="fr-FR" sz="1400" dirty="0"/>
              <a:t>The supplier </a:t>
            </a:r>
            <a:r>
              <a:rPr lang="fr-FR" sz="1400" dirty="0" err="1"/>
              <a:t>prepares</a:t>
            </a:r>
            <a:r>
              <a:rPr lang="fr-FR" sz="1400" dirty="0"/>
              <a:t> the </a:t>
            </a:r>
            <a:r>
              <a:rPr lang="fr-FR" sz="1400" dirty="0" err="1"/>
              <a:t>order</a:t>
            </a:r>
            <a:r>
              <a:rPr lang="fr-FR" sz="1400" dirty="0"/>
              <a:t>. They pack </a:t>
            </a:r>
            <a:r>
              <a:rPr lang="fr-FR" sz="1400" dirty="0" err="1"/>
              <a:t>it</a:t>
            </a:r>
            <a:r>
              <a:rPr lang="fr-FR" sz="1400" dirty="0"/>
              <a:t> and put the </a:t>
            </a:r>
            <a:r>
              <a:rPr lang="fr-FR" sz="1400" dirty="0" err="1"/>
              <a:t>Customer’s</a:t>
            </a:r>
            <a:r>
              <a:rPr lang="fr-FR" sz="1400" dirty="0"/>
              <a:t> </a:t>
            </a:r>
            <a:r>
              <a:rPr lang="fr-FR" sz="1400" dirty="0" err="1"/>
              <a:t>Address</a:t>
            </a:r>
            <a:r>
              <a:rPr lang="fr-FR" sz="1400" dirty="0"/>
              <a:t> Label.</a:t>
            </a:r>
          </a:p>
          <a:p>
            <a:pPr marL="342900" indent="-342900">
              <a:buAutoNum type="arabicPeriod"/>
            </a:pPr>
            <a:r>
              <a:rPr lang="fr-FR" sz="1400" dirty="0"/>
              <a:t>The supplier contacts a </a:t>
            </a:r>
            <a:r>
              <a:rPr lang="fr-FR" sz="1400" dirty="0" err="1"/>
              <a:t>Freight</a:t>
            </a:r>
            <a:r>
              <a:rPr lang="fr-FR" sz="1400" dirty="0"/>
              <a:t> Forwarder or an </a:t>
            </a:r>
            <a:r>
              <a:rPr lang="fr-FR" sz="1400" dirty="0" err="1"/>
              <a:t>Integrator</a:t>
            </a:r>
            <a:r>
              <a:rPr lang="fr-FR" sz="1400" dirty="0"/>
              <a:t> (Fedex, UPX, DHL for </a:t>
            </a:r>
            <a:r>
              <a:rPr lang="fr-FR" sz="1400" dirty="0" err="1"/>
              <a:t>eg</a:t>
            </a:r>
            <a:r>
              <a:rPr lang="fr-FR" sz="1400" dirty="0"/>
              <a:t>.). They </a:t>
            </a:r>
            <a:r>
              <a:rPr lang="fr-FR" sz="1400" dirty="0" err="1"/>
              <a:t>communicate</a:t>
            </a:r>
            <a:r>
              <a:rPr lang="fr-FR" sz="1400" dirty="0"/>
              <a:t> on the dimensions, the </a:t>
            </a:r>
            <a:r>
              <a:rPr lang="fr-FR" sz="1400" dirty="0" err="1"/>
              <a:t>weight</a:t>
            </a:r>
            <a:r>
              <a:rPr lang="fr-FR" sz="1400" dirty="0"/>
              <a:t> and the destination of the package. </a:t>
            </a:r>
          </a:p>
          <a:p>
            <a:pPr marL="342900" indent="-342900">
              <a:buAutoNum type="arabicPeriod"/>
            </a:pPr>
            <a:r>
              <a:rPr lang="fr-FR" sz="1400" dirty="0"/>
              <a:t>The forwarder/</a:t>
            </a:r>
            <a:r>
              <a:rPr lang="fr-FR" sz="1400" dirty="0" err="1"/>
              <a:t>integrator</a:t>
            </a:r>
            <a:r>
              <a:rPr lang="fr-FR" sz="1400" dirty="0"/>
              <a:t> </a:t>
            </a:r>
            <a:r>
              <a:rPr lang="fr-FR" sz="1400" dirty="0" err="1"/>
              <a:t>sends</a:t>
            </a:r>
            <a:r>
              <a:rPr lang="fr-FR" sz="1400" dirty="0"/>
              <a:t> </a:t>
            </a:r>
            <a:r>
              <a:rPr lang="fr-FR" sz="1400" dirty="0" err="1"/>
              <a:t>their</a:t>
            </a:r>
            <a:r>
              <a:rPr lang="fr-FR" sz="1400" dirty="0"/>
              <a:t> </a:t>
            </a:r>
            <a:r>
              <a:rPr lang="fr-FR" sz="1400" dirty="0" err="1"/>
              <a:t>quotation</a:t>
            </a:r>
            <a:r>
              <a:rPr lang="fr-FR" sz="1400" dirty="0"/>
              <a:t>.</a:t>
            </a:r>
          </a:p>
          <a:p>
            <a:pPr marL="342900" indent="-342900">
              <a:buAutoNum type="arabicPeriod"/>
            </a:pPr>
            <a:r>
              <a:rPr lang="fr-FR" sz="1400" dirty="0"/>
              <a:t>The supplier </a:t>
            </a:r>
            <a:r>
              <a:rPr lang="fr-FR" sz="1400" dirty="0" err="1"/>
              <a:t>prepares</a:t>
            </a:r>
            <a:r>
              <a:rPr lang="fr-FR" sz="1400" dirty="0"/>
              <a:t> the documents (Packing List and Commercial </a:t>
            </a:r>
            <a:r>
              <a:rPr lang="fr-FR" sz="1400" dirty="0" err="1"/>
              <a:t>Invoice</a:t>
            </a:r>
            <a:r>
              <a:rPr lang="fr-FR" sz="1400" dirty="0"/>
              <a:t>)</a:t>
            </a:r>
          </a:p>
          <a:p>
            <a:pPr marL="342900" indent="-342900">
              <a:buAutoNum type="arabicPeriod"/>
            </a:pPr>
            <a:r>
              <a:rPr lang="fr-FR" sz="1400" dirty="0"/>
              <a:t>A </a:t>
            </a:r>
            <a:r>
              <a:rPr lang="fr-FR" sz="1400" dirty="0" err="1"/>
              <a:t>trucking</a:t>
            </a:r>
            <a:r>
              <a:rPr lang="fr-FR" sz="1400" dirty="0"/>
              <a:t> </a:t>
            </a:r>
            <a:r>
              <a:rPr lang="fr-FR" sz="1400" dirty="0" err="1"/>
              <a:t>company</a:t>
            </a:r>
            <a:r>
              <a:rPr lang="fr-FR" sz="1400" dirty="0"/>
              <a:t> </a:t>
            </a:r>
            <a:r>
              <a:rPr lang="fr-FR" sz="1400" dirty="0" err="1"/>
              <a:t>comes</a:t>
            </a:r>
            <a:r>
              <a:rPr lang="fr-FR" sz="1400" dirty="0"/>
              <a:t> for the package and </a:t>
            </a:r>
            <a:r>
              <a:rPr lang="fr-FR" sz="1400" dirty="0" err="1"/>
              <a:t>brings</a:t>
            </a:r>
            <a:r>
              <a:rPr lang="fr-FR" sz="1400" dirty="0"/>
              <a:t> </a:t>
            </a:r>
            <a:r>
              <a:rPr lang="fr-FR" sz="1400" dirty="0" err="1"/>
              <a:t>it</a:t>
            </a:r>
            <a:r>
              <a:rPr lang="fr-FR" sz="1400" dirty="0"/>
              <a:t> to the </a:t>
            </a:r>
            <a:r>
              <a:rPr lang="fr-FR" sz="1400" dirty="0" err="1"/>
              <a:t>airport</a:t>
            </a:r>
            <a:r>
              <a:rPr lang="fr-FR" sz="1400" dirty="0"/>
              <a:t>. </a:t>
            </a:r>
          </a:p>
          <a:p>
            <a:pPr marL="342900" indent="-342900">
              <a:buAutoNum type="arabicPeriod"/>
            </a:pPr>
            <a:r>
              <a:rPr lang="fr-FR" sz="1400" dirty="0"/>
              <a:t>A Customs Broker </a:t>
            </a:r>
            <a:r>
              <a:rPr lang="fr-FR" sz="1400" dirty="0" err="1"/>
              <a:t>makes</a:t>
            </a:r>
            <a:r>
              <a:rPr lang="fr-FR" sz="1400" dirty="0"/>
              <a:t> the Export </a:t>
            </a:r>
            <a:r>
              <a:rPr lang="fr-FR" sz="1400" dirty="0" err="1"/>
              <a:t>Declaration</a:t>
            </a:r>
            <a:r>
              <a:rPr lang="fr-FR" sz="1400" dirty="0"/>
              <a:t>.</a:t>
            </a:r>
          </a:p>
          <a:p>
            <a:pPr marL="342900" indent="-342900">
              <a:buAutoNum type="arabicPeriod"/>
            </a:pPr>
            <a:r>
              <a:rPr lang="fr-FR" sz="1400" dirty="0"/>
              <a:t>The </a:t>
            </a:r>
            <a:r>
              <a:rPr lang="fr-FR" sz="1400" dirty="0" err="1"/>
              <a:t>airport</a:t>
            </a:r>
            <a:r>
              <a:rPr lang="fr-FR" sz="1400" dirty="0"/>
              <a:t> team scans the package and </a:t>
            </a:r>
            <a:r>
              <a:rPr lang="fr-FR" sz="1400" dirty="0" err="1"/>
              <a:t>brings</a:t>
            </a:r>
            <a:r>
              <a:rPr lang="fr-FR" sz="1400" dirty="0"/>
              <a:t> </a:t>
            </a:r>
            <a:r>
              <a:rPr lang="fr-FR" sz="1400" dirty="0" err="1"/>
              <a:t>it</a:t>
            </a:r>
            <a:r>
              <a:rPr lang="fr-FR" sz="1400" dirty="0"/>
              <a:t> to the </a:t>
            </a:r>
            <a:r>
              <a:rPr lang="fr-FR" sz="1400" dirty="0" err="1"/>
              <a:t>airline</a:t>
            </a:r>
            <a:r>
              <a:rPr lang="fr-FR" sz="1400" dirty="0"/>
              <a:t> </a:t>
            </a:r>
            <a:r>
              <a:rPr lang="fr-FR" sz="1400" dirty="0" err="1"/>
              <a:t>warehouse</a:t>
            </a:r>
            <a:r>
              <a:rPr lang="fr-FR" sz="1400" dirty="0"/>
              <a:t>.</a:t>
            </a:r>
          </a:p>
          <a:p>
            <a:pPr marL="342900" indent="-342900">
              <a:buAutoNum type="arabicPeriod"/>
            </a:pPr>
            <a:r>
              <a:rPr lang="fr-FR" sz="1400" dirty="0"/>
              <a:t>The </a:t>
            </a:r>
            <a:r>
              <a:rPr lang="fr-FR" sz="1400" dirty="0" err="1"/>
              <a:t>warehouse</a:t>
            </a:r>
            <a:r>
              <a:rPr lang="fr-FR" sz="1400" dirty="0"/>
              <a:t> agents </a:t>
            </a:r>
            <a:r>
              <a:rPr lang="fr-FR" sz="1400" dirty="0" err="1"/>
              <a:t>consolidates</a:t>
            </a:r>
            <a:r>
              <a:rPr lang="fr-FR" sz="1400" dirty="0"/>
              <a:t> all the packages </a:t>
            </a:r>
            <a:r>
              <a:rPr lang="fr-FR" sz="1400" dirty="0" err="1"/>
              <a:t>received</a:t>
            </a:r>
            <a:r>
              <a:rPr lang="fr-FR" sz="1400" dirty="0"/>
              <a:t>, trucks </a:t>
            </a:r>
            <a:r>
              <a:rPr lang="fr-FR" sz="1400" dirty="0" err="1"/>
              <a:t>them</a:t>
            </a:r>
            <a:r>
              <a:rPr lang="fr-FR" sz="1400" dirty="0"/>
              <a:t> to the plane and </a:t>
            </a:r>
            <a:r>
              <a:rPr lang="fr-FR" sz="1400" dirty="0" err="1"/>
              <a:t>load</a:t>
            </a:r>
            <a:r>
              <a:rPr lang="fr-FR" sz="1400" dirty="0"/>
              <a:t> </a:t>
            </a:r>
            <a:r>
              <a:rPr lang="fr-FR" sz="1400" dirty="0" err="1"/>
              <a:t>them</a:t>
            </a:r>
            <a:r>
              <a:rPr lang="fr-FR" sz="1400" dirty="0"/>
              <a:t> </a:t>
            </a:r>
            <a:r>
              <a:rPr lang="fr-FR" sz="1400" dirty="0" err="1"/>
              <a:t>onboard</a:t>
            </a:r>
            <a:r>
              <a:rPr lang="fr-FR" sz="1400" dirty="0"/>
              <a:t>.</a:t>
            </a:r>
          </a:p>
          <a:p>
            <a:pPr marL="342900" indent="-342900">
              <a:buAutoNum type="arabicPeriod"/>
            </a:pPr>
            <a:r>
              <a:rPr lang="fr-FR" sz="1400" dirty="0" err="1"/>
              <a:t>Waiting</a:t>
            </a:r>
            <a:r>
              <a:rPr lang="fr-FR" sz="1400" dirty="0"/>
              <a:t> time </a:t>
            </a:r>
            <a:r>
              <a:rPr lang="fr-FR" sz="1400" dirty="0" err="1"/>
              <a:t>before</a:t>
            </a:r>
            <a:r>
              <a:rPr lang="fr-FR" sz="1400" dirty="0"/>
              <a:t> </a:t>
            </a:r>
            <a:r>
              <a:rPr lang="fr-FR" sz="1400" dirty="0" err="1"/>
              <a:t>departure</a:t>
            </a:r>
            <a:r>
              <a:rPr lang="fr-FR" sz="1400" dirty="0"/>
              <a:t>. The plane </a:t>
            </a:r>
            <a:r>
              <a:rPr lang="fr-FR" sz="1400" dirty="0" err="1"/>
              <a:t>flies</a:t>
            </a:r>
            <a:r>
              <a:rPr lang="fr-FR" sz="1400" dirty="0"/>
              <a:t>.</a:t>
            </a:r>
          </a:p>
          <a:p>
            <a:pPr marL="342900" indent="-342900">
              <a:buAutoNum type="arabicPeriod"/>
            </a:pPr>
            <a:r>
              <a:rPr lang="fr-FR" sz="1400" dirty="0"/>
              <a:t>At the </a:t>
            </a:r>
            <a:r>
              <a:rPr lang="fr-FR" sz="1400" dirty="0" err="1"/>
              <a:t>arrival</a:t>
            </a:r>
            <a:r>
              <a:rPr lang="fr-FR" sz="1400" dirty="0"/>
              <a:t> </a:t>
            </a:r>
            <a:r>
              <a:rPr lang="fr-FR" sz="1400" dirty="0" err="1"/>
              <a:t>airport</a:t>
            </a:r>
            <a:r>
              <a:rPr lang="fr-FR" sz="1400" dirty="0"/>
              <a:t>, the </a:t>
            </a:r>
            <a:r>
              <a:rPr lang="fr-FR" sz="1400" dirty="0" err="1"/>
              <a:t>airport</a:t>
            </a:r>
            <a:r>
              <a:rPr lang="fr-FR" sz="1400" dirty="0"/>
              <a:t> agents </a:t>
            </a:r>
            <a:r>
              <a:rPr lang="fr-FR" sz="1400" dirty="0" err="1"/>
              <a:t>discharge</a:t>
            </a:r>
            <a:r>
              <a:rPr lang="fr-FR" sz="1400" dirty="0"/>
              <a:t> the packages, </a:t>
            </a:r>
            <a:r>
              <a:rPr lang="fr-FR" sz="1400" dirty="0" err="1"/>
              <a:t>bring</a:t>
            </a:r>
            <a:r>
              <a:rPr lang="fr-FR" sz="1400" dirty="0"/>
              <a:t> </a:t>
            </a:r>
            <a:r>
              <a:rPr lang="fr-FR" sz="1400" dirty="0" err="1"/>
              <a:t>them</a:t>
            </a:r>
            <a:r>
              <a:rPr lang="fr-FR" sz="1400" dirty="0"/>
              <a:t> to the </a:t>
            </a:r>
            <a:r>
              <a:rPr lang="fr-FR" sz="1400" dirty="0" err="1"/>
              <a:t>airport</a:t>
            </a:r>
            <a:r>
              <a:rPr lang="fr-FR" sz="1400" dirty="0"/>
              <a:t> </a:t>
            </a:r>
            <a:r>
              <a:rPr lang="fr-FR" sz="1400" dirty="0" err="1"/>
              <a:t>warehouse</a:t>
            </a:r>
            <a:r>
              <a:rPr lang="fr-FR" sz="1400" dirty="0"/>
              <a:t> and </a:t>
            </a:r>
            <a:r>
              <a:rPr lang="fr-FR" sz="1400" dirty="0" err="1"/>
              <a:t>unpack</a:t>
            </a:r>
            <a:r>
              <a:rPr lang="fr-FR" sz="1400" dirty="0"/>
              <a:t> the lot.</a:t>
            </a:r>
          </a:p>
          <a:p>
            <a:pPr marL="342900" indent="-342900">
              <a:buAutoNum type="arabicPeriod"/>
            </a:pPr>
            <a:r>
              <a:rPr lang="fr-FR" sz="1400" dirty="0"/>
              <a:t>A French Customs Broker </a:t>
            </a:r>
            <a:r>
              <a:rPr lang="fr-FR" sz="1400" dirty="0" err="1"/>
              <a:t>makes</a:t>
            </a:r>
            <a:r>
              <a:rPr lang="fr-FR" sz="1400" dirty="0"/>
              <a:t> the import Customs </a:t>
            </a:r>
            <a:r>
              <a:rPr lang="fr-FR" sz="1400" dirty="0" err="1"/>
              <a:t>declaration</a:t>
            </a:r>
            <a:r>
              <a:rPr lang="fr-FR" sz="1400" dirty="0"/>
              <a:t> and </a:t>
            </a:r>
            <a:r>
              <a:rPr lang="fr-FR" sz="1400" dirty="0" err="1"/>
              <a:t>communicate</a:t>
            </a:r>
            <a:r>
              <a:rPr lang="fr-FR" sz="1400" dirty="0"/>
              <a:t> </a:t>
            </a:r>
            <a:r>
              <a:rPr lang="fr-FR" sz="1400" dirty="0" err="1"/>
              <a:t>you</a:t>
            </a:r>
            <a:r>
              <a:rPr lang="fr-FR" sz="1400" dirty="0"/>
              <a:t> the Import </a:t>
            </a:r>
            <a:r>
              <a:rPr lang="fr-FR" sz="1400" dirty="0" err="1"/>
              <a:t>Duties</a:t>
            </a:r>
            <a:r>
              <a:rPr lang="fr-FR" sz="1400" dirty="0"/>
              <a:t>.</a:t>
            </a:r>
          </a:p>
          <a:p>
            <a:pPr marL="342900" indent="-342900">
              <a:buAutoNum type="arabicPeriod"/>
            </a:pPr>
            <a:r>
              <a:rPr lang="fr-FR" sz="1400" dirty="0"/>
              <a:t>You </a:t>
            </a:r>
            <a:r>
              <a:rPr lang="fr-FR" sz="1400" dirty="0" err="1"/>
              <a:t>pay</a:t>
            </a:r>
            <a:r>
              <a:rPr lang="fr-FR" sz="1400" dirty="0"/>
              <a:t> the import </a:t>
            </a:r>
            <a:r>
              <a:rPr lang="fr-FR" sz="1400" dirty="0" err="1"/>
              <a:t>duties</a:t>
            </a:r>
            <a:endParaRPr lang="fr-FR" sz="1400" dirty="0"/>
          </a:p>
          <a:p>
            <a:pPr marL="342900" indent="-342900">
              <a:buAutoNum type="arabicPeriod"/>
            </a:pPr>
            <a:r>
              <a:rPr lang="fr-FR" sz="1400" dirty="0"/>
              <a:t>A </a:t>
            </a:r>
            <a:r>
              <a:rPr lang="fr-FR" sz="1400" dirty="0" err="1"/>
              <a:t>Trucking</a:t>
            </a:r>
            <a:r>
              <a:rPr lang="fr-FR" sz="1400" dirty="0"/>
              <a:t> </a:t>
            </a:r>
            <a:r>
              <a:rPr lang="fr-FR" sz="1400" dirty="0" err="1"/>
              <a:t>company</a:t>
            </a:r>
            <a:r>
              <a:rPr lang="fr-FR" sz="1400" dirty="0"/>
              <a:t> </a:t>
            </a:r>
            <a:r>
              <a:rPr lang="fr-FR" sz="1400" dirty="0" err="1"/>
              <a:t>collects</a:t>
            </a:r>
            <a:r>
              <a:rPr lang="fr-FR" sz="1400" dirty="0"/>
              <a:t> the </a:t>
            </a:r>
            <a:r>
              <a:rPr lang="fr-FR" sz="1400" dirty="0" err="1"/>
              <a:t>products</a:t>
            </a:r>
            <a:r>
              <a:rPr lang="fr-FR" sz="1400" dirty="0"/>
              <a:t> at the </a:t>
            </a:r>
            <a:r>
              <a:rPr lang="fr-FR" sz="1400" dirty="0" err="1"/>
              <a:t>airport</a:t>
            </a:r>
            <a:r>
              <a:rPr lang="fr-FR" sz="1400" dirty="0"/>
              <a:t> and </a:t>
            </a:r>
            <a:r>
              <a:rPr lang="fr-FR" sz="1400" dirty="0" err="1"/>
              <a:t>delivers</a:t>
            </a:r>
            <a:r>
              <a:rPr lang="fr-FR" sz="1400" dirty="0"/>
              <a:t> the final Customer</a:t>
            </a:r>
          </a:p>
          <a:p>
            <a:pPr marL="342900" indent="-342900">
              <a:buAutoNum type="arabicPeriod"/>
            </a:pPr>
            <a:endParaRPr lang="fr-FR" sz="1400" dirty="0"/>
          </a:p>
          <a:p>
            <a:pPr marL="342900" indent="-342900">
              <a:buAutoNum type="arabicPeriod"/>
            </a:pPr>
            <a:endParaRPr lang="fr-FR" sz="1400" dirty="0"/>
          </a:p>
        </p:txBody>
      </p:sp>
    </p:spTree>
    <p:extLst>
      <p:ext uri="{BB962C8B-B14F-4D97-AF65-F5344CB8AC3E}">
        <p14:creationId xmlns:p14="http://schemas.microsoft.com/office/powerpoint/2010/main" val="132205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583</Words>
  <Application>Microsoft Office PowerPoint</Application>
  <PresentationFormat>Grand écran</PresentationFormat>
  <Paragraphs>30</Paragraphs>
  <Slides>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vt:i4>
      </vt:variant>
    </vt:vector>
  </HeadingPairs>
  <TitlesOfParts>
    <vt:vector size="7" baseType="lpstr">
      <vt:lpstr>Aptos</vt:lpstr>
      <vt:lpstr>Aptos Display</vt:lpstr>
      <vt:lpstr>Arial</vt:lpstr>
      <vt:lpstr>Thème Office</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Amandine Celerier</dc:creator>
  <cp:lastModifiedBy>Amandine Celerier</cp:lastModifiedBy>
  <cp:revision>1</cp:revision>
  <dcterms:created xsi:type="dcterms:W3CDTF">2026-06-05T12:24:50Z</dcterms:created>
  <dcterms:modified xsi:type="dcterms:W3CDTF">2026-06-05T12:25:55Z</dcterms:modified>
</cp:coreProperties>
</file>