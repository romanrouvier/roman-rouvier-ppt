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Orders / year</c:v>
                </c:pt>
              </c:strCache>
            </c:strRef>
          </c:tx>
          <c:spPr>
            <a:solidFill>
              <a:srgbClr val="1560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56082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Paris/IDF</c:v>
                  </c:pt>
                  <c:pt idx="1">
                    <c:v>Marseille</c:v>
                  </c:pt>
                  <c:pt idx="2">
                    <c:v>Lyon</c:v>
                  </c:pt>
                  <c:pt idx="3">
                    <c:v>Toulouse</c:v>
                  </c:pt>
                  <c:pt idx="4">
                    <c:v>Bordeaux</c:v>
                  </c:pt>
                  <c:pt idx="5">
                    <c:v>Lille</c:v>
                  </c:pt>
                  <c:pt idx="6">
                    <c:v>Nice</c:v>
                  </c:pt>
                  <c:pt idx="7">
                    <c:v>Nantes</c:v>
                  </c:pt>
                  <c:pt idx="8">
                    <c:v>Strasbourg</c:v>
                  </c:pt>
                  <c:pt idx="9">
                    <c:v>Montpellier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670</c:v>
                </c:pt>
                <c:pt idx="1">
                  <c:v>190</c:v>
                </c:pt>
                <c:pt idx="2">
                  <c:v>170</c:v>
                </c:pt>
                <c:pt idx="3">
                  <c:v>125</c:v>
                </c:pt>
                <c:pt idx="4">
                  <c:v>105</c:v>
                </c:pt>
                <c:pt idx="5">
                  <c:v>105</c:v>
                </c:pt>
                <c:pt idx="6">
                  <c:v>85</c:v>
                </c:pt>
                <c:pt idx="7">
                  <c:v>85</c:v>
                </c:pt>
                <c:pt idx="8">
                  <c:v>65</c:v>
                </c:pt>
                <c:pt idx="9">
                  <c:v>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Furniture</c:v>
                </c:pt>
              </c:strCache>
            </c:strRef>
          </c:tx>
          <c:spPr>
            <a:solidFill>
              <a:srgbClr val="156082"/>
            </a:solidFill>
            <a:ln w="38100" cap="flat">
              <a:solidFill>
                <a:srgbClr val="1560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082"/>
              </a:solidFill>
              <a:ln w="9525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109</c:v>
                </c:pt>
                <c:pt idx="1">
                  <c:v>129</c:v>
                </c:pt>
                <c:pt idx="2">
                  <c:v>141</c:v>
                </c:pt>
                <c:pt idx="3">
                  <c:v>143</c:v>
                </c:pt>
                <c:pt idx="4">
                  <c:v>173</c:v>
                </c:pt>
                <c:pt idx="5">
                  <c:v>192</c:v>
                </c:pt>
                <c:pt idx="6">
                  <c:v>173</c:v>
                </c:pt>
                <c:pt idx="7">
                  <c:v>188</c:v>
                </c:pt>
                <c:pt idx="8">
                  <c:v>183</c:v>
                </c:pt>
                <c:pt idx="9">
                  <c:v>191</c:v>
                </c:pt>
                <c:pt idx="10">
                  <c:v>201</c:v>
                </c:pt>
                <c:pt idx="11">
                  <c:v>212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Jewelry</c:v>
                </c:pt>
              </c:strCache>
            </c:strRef>
          </c:tx>
          <c:spPr>
            <a:solidFill>
              <a:srgbClr val="0F9ED5"/>
            </a:solidFill>
            <a:ln w="38100" cap="flat">
              <a:solidFill>
                <a:srgbClr val="0F9ED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9ED5"/>
              </a:solidFill>
              <a:ln w="9525" cap="flat">
                <a:solidFill>
                  <a:srgbClr val="0F9ED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20</c:v>
                </c:pt>
                <c:pt idx="1">
                  <c:v>36</c:v>
                </c:pt>
                <c:pt idx="2">
                  <c:v>54</c:v>
                </c:pt>
                <c:pt idx="3">
                  <c:v>58</c:v>
                </c:pt>
                <c:pt idx="4">
                  <c:v>71</c:v>
                </c:pt>
                <c:pt idx="5">
                  <c:v>88</c:v>
                </c:pt>
                <c:pt idx="6">
                  <c:v>100</c:v>
                </c:pt>
                <c:pt idx="7">
                  <c:v>107</c:v>
                </c:pt>
                <c:pt idx="8">
                  <c:v>100</c:v>
                </c:pt>
                <c:pt idx="9">
                  <c:v>113</c:v>
                </c:pt>
                <c:pt idx="10">
                  <c:v>119</c:v>
                </c:pt>
                <c:pt idx="11">
                  <c:v>140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Tea</c:v>
                </c:pt>
              </c:strCache>
            </c:strRef>
          </c:tx>
          <c:spPr>
            <a:solidFill>
              <a:srgbClr val="196B24"/>
            </a:solidFill>
            <a:ln w="38100" cap="flat">
              <a:solidFill>
                <a:srgbClr val="196B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96B24"/>
              </a:solidFill>
              <a:ln w="9525" cap="flat">
                <a:solidFill>
                  <a:srgbClr val="196B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60</c:v>
                </c:pt>
                <c:pt idx="1">
                  <c:v>69</c:v>
                </c:pt>
                <c:pt idx="2">
                  <c:v>81</c:v>
                </c:pt>
                <c:pt idx="3">
                  <c:v>80</c:v>
                </c:pt>
                <c:pt idx="4">
                  <c:v>84</c:v>
                </c:pt>
                <c:pt idx="5">
                  <c:v>80</c:v>
                </c:pt>
                <c:pt idx="6">
                  <c:v>75</c:v>
                </c:pt>
                <c:pt idx="7">
                  <c:v>80</c:v>
                </c:pt>
                <c:pt idx="8">
                  <c:v>81</c:v>
                </c:pt>
                <c:pt idx="9">
                  <c:v>89</c:v>
                </c:pt>
                <c:pt idx="10">
                  <c:v>81</c:v>
                </c:pt>
                <c:pt idx="11">
                  <c:v>75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Textile</c:v>
                </c:pt>
              </c:strCache>
            </c:strRef>
          </c:tx>
          <c:spPr>
            <a:solidFill>
              <a:srgbClr val="E97132"/>
            </a:solidFill>
            <a:ln w="38100" cap="flat">
              <a:solidFill>
                <a:srgbClr val="E971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97132"/>
              </a:solidFill>
              <a:ln w="9525" cap="flat">
                <a:solidFill>
                  <a:srgbClr val="E971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3</c:v>
                </c:pt>
                <c:pt idx="1">
                  <c:v>6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39</c:v>
                </c:pt>
                <c:pt idx="6">
                  <c:v>50</c:v>
                </c:pt>
                <c:pt idx="7">
                  <c:v>59</c:v>
                </c:pt>
                <c:pt idx="8">
                  <c:v>14</c:v>
                </c:pt>
                <c:pt idx="9">
                  <c:v>12</c:v>
                </c:pt>
                <c:pt idx="10">
                  <c:v>11</c:v>
                </c:pt>
                <c:pt idx="11">
                  <c:v>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03550" y="164812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690926" y="1589336"/>
            <a:ext cx="176214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 Shop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562749" y="164812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73588" y="2011561"/>
            <a:ext cx="659682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Analysis — Step 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064050" y="2694087"/>
            <a:ext cx="1015901" cy="25301"/>
          </a:xfrm>
          <a:prstGeom prst="roundRect">
            <a:avLst>
              <a:gd name="adj" fmla="val 50196"/>
            </a:avLst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142530" y="2973288"/>
            <a:ext cx="2255341" cy="209550"/>
          </a:xfrm>
          <a:prstGeom prst="roundRect">
            <a:avLst>
              <a:gd name="adj" fmla="val 72727"/>
            </a:avLst>
          </a:prstGeom>
          <a:solidFill>
            <a:srgbClr val="FFFFF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69480" y="3011388"/>
            <a:ext cx="20414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Drop-Shipping E-Commerce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99372" y="2973288"/>
            <a:ext cx="1136749" cy="209550"/>
          </a:xfrm>
          <a:prstGeom prst="roundRect">
            <a:avLst>
              <a:gd name="adj" fmla="val 72727"/>
            </a:avLst>
          </a:prstGeom>
          <a:solidFill>
            <a:srgbClr val="FFFFF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6322" y="3011388"/>
            <a:ext cx="90050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Products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737622" y="2973288"/>
            <a:ext cx="1263700" cy="209550"/>
          </a:xfrm>
          <a:prstGeom prst="roundRect">
            <a:avLst>
              <a:gd name="adj" fmla="val 72727"/>
            </a:avLst>
          </a:prstGeom>
          <a:solidFill>
            <a:srgbClr val="FFFFF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864572" y="3011388"/>
            <a:ext cx="1029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January 2025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46561" y="3411289"/>
            <a:ext cx="20507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Textile · Furniture · Tea · Jewelry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28600" y="114300"/>
            <a:ext cx="6355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— Brand Strengths &amp; Weaknesses (Customer Reviews)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6538" y="141387"/>
            <a:ext cx="1244203" cy="174427"/>
          </a:xfrm>
          <a:prstGeom prst="roundRect">
            <a:avLst>
              <a:gd name="adj" fmla="val 72810"/>
            </a:avLst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88038" y="166688"/>
            <a:ext cx="1062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03150" y="584150"/>
            <a:ext cx="4305300" cy="263426"/>
          </a:xfrm>
          <a:prstGeom prst="roundRect">
            <a:avLst>
              <a:gd name="adj" fmla="val 19284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30101" y="634901"/>
            <a:ext cx="9638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3150" y="910977"/>
            <a:ext cx="4305300" cy="392609"/>
          </a:xfrm>
          <a:prstGeom prst="roundRect">
            <a:avLst>
              <a:gd name="adj" fmla="val 9704"/>
            </a:avLst>
          </a:prstGeom>
          <a:solidFill>
            <a:srgbClr val="F1F8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22200" y="910977"/>
            <a:ext cx="0" cy="392609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751" y="974378"/>
            <a:ext cx="98673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15689" y="961727"/>
            <a:ext cx="3969085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product range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authentic Indian textile, furniture, tea &amp; jewelry not found in mainstream French retail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03150" y="1341686"/>
            <a:ext cx="4305300" cy="392609"/>
          </a:xfrm>
          <a:prstGeom prst="roundRect">
            <a:avLst>
              <a:gd name="adj" fmla="val 9704"/>
            </a:avLst>
          </a:prstGeom>
          <a:solidFill>
            <a:srgbClr val="F1F8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22200" y="1341686"/>
            <a:ext cx="0" cy="392609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751" y="1405086"/>
            <a:ext cx="98673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15689" y="1392436"/>
            <a:ext cx="3969085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pricing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drop-shipping model avoids warehousing costs; customers report good value for money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03150" y="1772394"/>
            <a:ext cx="4305300" cy="392609"/>
          </a:xfrm>
          <a:prstGeom prst="roundRect">
            <a:avLst>
              <a:gd name="adj" fmla="val 9704"/>
            </a:avLst>
          </a:prstGeom>
          <a:solidFill>
            <a:srgbClr val="F1F8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222200" y="1772394"/>
            <a:ext cx="0" cy="392609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751" y="1835795"/>
            <a:ext cx="98673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15689" y="1823145"/>
            <a:ext cx="3969085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quality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handcrafted/artisanal items praised for craftsmanship and authenticity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03150" y="2203103"/>
            <a:ext cx="4305300" cy="392609"/>
          </a:xfrm>
          <a:prstGeom prst="roundRect">
            <a:avLst>
              <a:gd name="adj" fmla="val 9704"/>
            </a:avLst>
          </a:prstGeom>
          <a:solidFill>
            <a:srgbClr val="F1F8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222200" y="2203103"/>
            <a:ext cx="0" cy="392609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2751" y="2266504"/>
            <a:ext cx="98673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15689" y="2253853"/>
            <a:ext cx="3969085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responsiveness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quick replies on social media and email, proactive issue resolution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03150" y="2633811"/>
            <a:ext cx="4305300" cy="392609"/>
          </a:xfrm>
          <a:prstGeom prst="roundRect">
            <a:avLst>
              <a:gd name="adj" fmla="val 9704"/>
            </a:avLst>
          </a:prstGeom>
          <a:solidFill>
            <a:srgbClr val="F1F8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222200" y="2633811"/>
            <a:ext cx="0" cy="392609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751" y="2697212"/>
            <a:ext cx="98673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15689" y="2684562"/>
            <a:ext cx="3969085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storytelling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descriptions rich in origin &amp; cultural context appeal to conscious consumers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03150" y="3064520"/>
            <a:ext cx="4305300" cy="392609"/>
          </a:xfrm>
          <a:prstGeom prst="roundRect">
            <a:avLst>
              <a:gd name="adj" fmla="val 9704"/>
            </a:avLst>
          </a:prstGeom>
          <a:solidFill>
            <a:srgbClr val="F1F8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222200" y="3064520"/>
            <a:ext cx="0" cy="392609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2751" y="3127921"/>
            <a:ext cx="98673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15689" y="3115270"/>
            <a:ext cx="3969085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community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loyal repeat buyers, positive word-of-mouth in French South-Asian diaspora communities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635401" y="584150"/>
            <a:ext cx="4305449" cy="263426"/>
          </a:xfrm>
          <a:prstGeom prst="roundRect">
            <a:avLst>
              <a:gd name="adj" fmla="val 19284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762351" y="634901"/>
            <a:ext cx="11570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Weaknesses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635401" y="910977"/>
            <a:ext cx="4305449" cy="392609"/>
          </a:xfrm>
          <a:prstGeom prst="roundRect">
            <a:avLst>
              <a:gd name="adj" fmla="val 9704"/>
            </a:avLst>
          </a:prstGeom>
          <a:solidFill>
            <a:srgbClr val="FFF3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4654451" y="910977"/>
            <a:ext cx="0" cy="392609"/>
          </a:xfrm>
          <a:prstGeom prst="line">
            <a:avLst/>
          </a:prstGeom>
          <a:noFill/>
          <a:ln w="38100">
            <a:solidFill>
              <a:srgbClr val="EF53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75002" y="974378"/>
            <a:ext cx="84707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934248" y="961727"/>
            <a:ext cx="3983203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delivery times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India-to-France shipping (4–8 weeks) frequently cited as major pain point vs. Amazon Prime expectations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635401" y="1341686"/>
            <a:ext cx="4305449" cy="392609"/>
          </a:xfrm>
          <a:prstGeom prst="roundRect">
            <a:avLst>
              <a:gd name="adj" fmla="val 9704"/>
            </a:avLst>
          </a:prstGeom>
          <a:solidFill>
            <a:srgbClr val="FFF3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4654451" y="1341686"/>
            <a:ext cx="0" cy="392609"/>
          </a:xfrm>
          <a:prstGeom prst="line">
            <a:avLst/>
          </a:prstGeom>
          <a:noFill/>
          <a:ln w="38100">
            <a:solidFill>
              <a:srgbClr val="EF53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75002" y="1405086"/>
            <a:ext cx="84707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934248" y="1392436"/>
            <a:ext cx="3983203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transparency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customers report difficulty following parcel status across multiple carriers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35401" y="1772394"/>
            <a:ext cx="4305449" cy="392609"/>
          </a:xfrm>
          <a:prstGeom prst="roundRect">
            <a:avLst>
              <a:gd name="adj" fmla="val 9704"/>
            </a:avLst>
          </a:prstGeom>
          <a:solidFill>
            <a:srgbClr val="FFF3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4654451" y="1772394"/>
            <a:ext cx="0" cy="392609"/>
          </a:xfrm>
          <a:prstGeom prst="line">
            <a:avLst/>
          </a:prstGeom>
          <a:noFill/>
          <a:ln w="38100">
            <a:solidFill>
              <a:srgbClr val="EF53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75002" y="1835795"/>
            <a:ext cx="84707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934248" y="1823145"/>
            <a:ext cx="3983203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sizing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textile items lack standardised EU sizing; returns costly for customers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635401" y="2203103"/>
            <a:ext cx="4305449" cy="392609"/>
          </a:xfrm>
          <a:prstGeom prst="roundRect">
            <a:avLst>
              <a:gd name="adj" fmla="val 9704"/>
            </a:avLst>
          </a:prstGeom>
          <a:solidFill>
            <a:srgbClr val="FFF3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4654451" y="2203103"/>
            <a:ext cx="0" cy="392609"/>
          </a:xfrm>
          <a:prstGeom prst="line">
            <a:avLst/>
          </a:prstGeom>
          <a:noFill/>
          <a:ln w="38100">
            <a:solidFill>
              <a:srgbClr val="EF53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75002" y="2266504"/>
            <a:ext cx="84707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34248" y="2253853"/>
            <a:ext cx="3983203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product photos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single-angle images insufficient; customers struggle to assess scale &amp; material texture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635401" y="2633811"/>
            <a:ext cx="4305449" cy="392609"/>
          </a:xfrm>
          <a:prstGeom prst="roundRect">
            <a:avLst>
              <a:gd name="adj" fmla="val 9704"/>
            </a:avLst>
          </a:prstGeom>
          <a:solidFill>
            <a:srgbClr val="FFF3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4654451" y="2633811"/>
            <a:ext cx="0" cy="392609"/>
          </a:xfrm>
          <a:prstGeom prst="line">
            <a:avLst/>
          </a:prstGeom>
          <a:noFill/>
          <a:ln w="38100">
            <a:solidFill>
              <a:srgbClr val="EF53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75002" y="2697212"/>
            <a:ext cx="84707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934248" y="2684562"/>
            <a:ext cx="3983203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UX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mobile navigation and checkout flow rated below average; cart abandonment issue flagged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635401" y="3064520"/>
            <a:ext cx="4305449" cy="392609"/>
          </a:xfrm>
          <a:prstGeom prst="roundRect">
            <a:avLst>
              <a:gd name="adj" fmla="val 9704"/>
            </a:avLst>
          </a:prstGeom>
          <a:solidFill>
            <a:srgbClr val="FFF3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Shape 54"/>
          <p:cNvSpPr/>
          <p:nvPr/>
        </p:nvSpPr>
        <p:spPr>
          <a:xfrm>
            <a:off x="4654451" y="3064520"/>
            <a:ext cx="0" cy="392609"/>
          </a:xfrm>
          <a:prstGeom prst="line">
            <a:avLst/>
          </a:prstGeom>
          <a:noFill/>
          <a:ln w="38100">
            <a:solidFill>
              <a:srgbClr val="EF53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75002" y="3127921"/>
            <a:ext cx="84707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4934248" y="3115270"/>
            <a:ext cx="3983203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French-language support hotline</a:t>
            </a:r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chat only; some older customers prefer telephone contact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8396" y="4987975"/>
            <a:ext cx="891245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Trustpilot / Google Reviews analysis · Kerala Shop · 2025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603052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28600" y="101501"/>
            <a:ext cx="423899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— Supply Chain Workflow (Color-coded by Actor)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11427" y="2507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51028" y="249138"/>
            <a:ext cx="4402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184130" y="2507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323731" y="249138"/>
            <a:ext cx="5410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 Shop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55655" y="2507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5256" y="249138"/>
            <a:ext cx="3734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562874" y="2507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8E44A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702475" y="249138"/>
            <a:ext cx="4575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Forwarder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252543" y="2507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392144" y="249138"/>
            <a:ext cx="37920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Trucking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865418" y="2507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005018" y="249138"/>
            <a:ext cx="3945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8493323" y="2507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32924" y="249138"/>
            <a:ext cx="2881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77701" y="704552"/>
            <a:ext cx="1005334" cy="2130623"/>
          </a:xfrm>
          <a:prstGeom prst="roundRect">
            <a:avLst>
              <a:gd name="adj" fmla="val 6316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18530" y="767953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30343" y="872728"/>
            <a:ext cx="900050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15801" y="2663875"/>
            <a:ext cx="929134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8275" y="2676525"/>
            <a:ext cx="844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208336" y="1688902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9596" y="704552"/>
            <a:ext cx="1005334" cy="2130623"/>
          </a:xfrm>
          <a:prstGeom prst="roundRect">
            <a:avLst>
              <a:gd name="adj" fmla="val 6316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730425" y="767953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318404" y="872728"/>
            <a:ext cx="947717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Received by Kerala Shop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327696" y="2663875"/>
            <a:ext cx="929134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370170" y="2676525"/>
            <a:ext cx="844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320230" y="1688902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01491" y="704552"/>
            <a:ext cx="1005334" cy="2130623"/>
          </a:xfrm>
          <a:prstGeom prst="roundRect">
            <a:avLst>
              <a:gd name="adj" fmla="val 6316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842320" y="767953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430299" y="872728"/>
            <a:ext cx="947717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Verification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2439591" y="2663875"/>
            <a:ext cx="929134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482065" y="2676525"/>
            <a:ext cx="844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3432125" y="1688902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513386" y="704552"/>
            <a:ext cx="1005334" cy="2130623"/>
          </a:xfrm>
          <a:prstGeom prst="roundRect">
            <a:avLst>
              <a:gd name="adj" fmla="val 6316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954214" y="767953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542194" y="872728"/>
            <a:ext cx="947717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Sent to Supplier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3551486" y="2663875"/>
            <a:ext cx="929134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593960" y="2676525"/>
            <a:ext cx="844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4544020" y="1688902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625280" y="704552"/>
            <a:ext cx="1005334" cy="2130623"/>
          </a:xfrm>
          <a:prstGeom prst="roundRect">
            <a:avLst>
              <a:gd name="adj" fmla="val 6316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066109" y="767953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654089" y="872728"/>
            <a:ext cx="947717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Confirms &amp; Prepares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4663380" y="2663875"/>
            <a:ext cx="929134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705855" y="2676525"/>
            <a:ext cx="844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days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5655915" y="1688902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737175" y="704552"/>
            <a:ext cx="1005334" cy="2130623"/>
          </a:xfrm>
          <a:prstGeom prst="roundRect">
            <a:avLst>
              <a:gd name="adj" fmla="val 6316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178004" y="767953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65984" y="872728"/>
            <a:ext cx="947717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 &amp; Packing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775275" y="2663875"/>
            <a:ext cx="929134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817749" y="2676525"/>
            <a:ext cx="844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6767810" y="1688902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849070" y="704552"/>
            <a:ext cx="1005334" cy="2130623"/>
          </a:xfrm>
          <a:prstGeom prst="roundRect">
            <a:avLst>
              <a:gd name="adj" fmla="val 6316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289899" y="767953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877879" y="872728"/>
            <a:ext cx="947717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Trucking to Airport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6887170" y="2663875"/>
            <a:ext cx="929134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929644" y="2676525"/>
            <a:ext cx="844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4–8h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7879705" y="1688902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960965" y="704552"/>
            <a:ext cx="1005334" cy="2130623"/>
          </a:xfrm>
          <a:prstGeom prst="roundRect">
            <a:avLst>
              <a:gd name="adj" fmla="val 6316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401794" y="767953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989774" y="872728"/>
            <a:ext cx="947717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Customs Clearance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7999065" y="2663875"/>
            <a:ext cx="929134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041539" y="2676525"/>
            <a:ext cx="844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days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177701" y="2911376"/>
            <a:ext cx="1007120" cy="2130623"/>
          </a:xfrm>
          <a:prstGeom prst="roundRect">
            <a:avLst>
              <a:gd name="adj" fmla="val 6305"/>
            </a:avLst>
          </a:prstGeom>
          <a:solidFill>
            <a:srgbClr val="8E44A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19423" y="2974777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206492" y="3079552"/>
            <a:ext cx="949538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 Forwarder Booking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215801" y="4870698"/>
            <a:ext cx="930920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258257" y="4883348"/>
            <a:ext cx="846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1210121" y="3895725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291382" y="2911376"/>
            <a:ext cx="1007269" cy="2130623"/>
          </a:xfrm>
          <a:prstGeom prst="roundRect">
            <a:avLst>
              <a:gd name="adj" fmla="val 6304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733104" y="2974777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320171" y="3079552"/>
            <a:ext cx="949690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Freight (India → France)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1329482" y="4870698"/>
            <a:ext cx="931069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371936" y="4883348"/>
            <a:ext cx="8461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days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2323951" y="3895725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2405211" y="2911376"/>
            <a:ext cx="1007120" cy="2130623"/>
          </a:xfrm>
          <a:prstGeom prst="roundRect">
            <a:avLst>
              <a:gd name="adj" fmla="val 6305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2846933" y="2974777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2434002" y="3079552"/>
            <a:ext cx="949538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Customs Clearance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2443311" y="4870698"/>
            <a:ext cx="930920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2485768" y="4883348"/>
            <a:ext cx="846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days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3437632" y="3895725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3518892" y="2911376"/>
            <a:ext cx="1007269" cy="2130623"/>
          </a:xfrm>
          <a:prstGeom prst="roundRect">
            <a:avLst>
              <a:gd name="adj" fmla="val 6304"/>
            </a:avLst>
          </a:prstGeom>
          <a:solidFill>
            <a:srgbClr val="8E44A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3960614" y="2974777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3547682" y="3079552"/>
            <a:ext cx="949690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to French Hub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3556992" y="4870698"/>
            <a:ext cx="931069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3599447" y="4883348"/>
            <a:ext cx="8461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4551462" y="3895725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32722" y="2911376"/>
            <a:ext cx="1007269" cy="2130623"/>
          </a:xfrm>
          <a:prstGeom prst="roundRect">
            <a:avLst>
              <a:gd name="adj" fmla="val 6304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5074444" y="2974777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4661511" y="3079552"/>
            <a:ext cx="949690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4670822" y="4870698"/>
            <a:ext cx="931069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4713277" y="4883348"/>
            <a:ext cx="8461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days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5665291" y="3895725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5746552" y="2911376"/>
            <a:ext cx="1007269" cy="2130623"/>
          </a:xfrm>
          <a:prstGeom prst="roundRect">
            <a:avLst>
              <a:gd name="adj" fmla="val 6304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6188273" y="2974777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5775341" y="3079552"/>
            <a:ext cx="949690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Receives Order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5784652" y="4870698"/>
            <a:ext cx="931069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Text 98"/>
          <p:cNvSpPr/>
          <p:nvPr/>
        </p:nvSpPr>
        <p:spPr>
          <a:xfrm>
            <a:off x="5827106" y="4883348"/>
            <a:ext cx="8461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6779121" y="3895725"/>
            <a:ext cx="570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6860381" y="2911376"/>
            <a:ext cx="1007269" cy="2130623"/>
          </a:xfrm>
          <a:prstGeom prst="roundRect">
            <a:avLst>
              <a:gd name="adj" fmla="val 6304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7302103" y="2974777"/>
            <a:ext cx="126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889171" y="3079552"/>
            <a:ext cx="949690" cy="1791146"/>
          </a:xfrm>
          <a:prstGeom prst="rect">
            <a:avLst/>
          </a:prstGeom>
          <a:noFill/>
          <a:ln/>
        </p:spPr>
        <p:txBody>
          <a:bodyPr wrap="square" lIns="12700" tIns="25400" rIns="12700" bIns="25400" rtlCol="0" anchor="t"/>
          <a:lstStyle/>
          <a:p>
            <a:pPr algn="ctr" indent="0" marL="0">
              <a:lnSpc>
                <a:spcPts val="938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Post-Sale Follow-Up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6898481" y="4870698"/>
            <a:ext cx="931069" cy="120551"/>
          </a:xfrm>
          <a:prstGeom prst="roundRect">
            <a:avLst>
              <a:gd name="adj" fmla="val 31605"/>
            </a:avLst>
          </a:prstGeom>
          <a:solidFill>
            <a:srgbClr val="000000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Text 104"/>
          <p:cNvSpPr/>
          <p:nvPr/>
        </p:nvSpPr>
        <p:spPr>
          <a:xfrm>
            <a:off x="6940936" y="4883348"/>
            <a:ext cx="8461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403027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28600" y="101501"/>
            <a:ext cx="26617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 Overview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65103" y="114300"/>
            <a:ext cx="1589484" cy="174427"/>
          </a:xfrm>
          <a:prstGeom prst="roundRect">
            <a:avLst>
              <a:gd name="adj" fmla="val 72810"/>
            </a:avLst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66604" y="139601"/>
            <a:ext cx="141421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Categories · 60+ SKUs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03150" y="504527"/>
            <a:ext cx="2031950" cy="651421"/>
          </a:xfrm>
          <a:prstGeom prst="roundRect">
            <a:avLst>
              <a:gd name="adj" fmla="val 974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203150" y="523577"/>
            <a:ext cx="20319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4651" y="618827"/>
            <a:ext cx="18655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SKUS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04651" y="723602"/>
            <a:ext cx="1865528" cy="25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04651" y="974973"/>
            <a:ext cx="18655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listings (2025)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03150" y="1232148"/>
            <a:ext cx="2031950" cy="651421"/>
          </a:xfrm>
          <a:prstGeom prst="roundRect">
            <a:avLst>
              <a:gd name="adj" fmla="val 974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03150" y="1251198"/>
            <a:ext cx="20319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651" y="1346448"/>
            <a:ext cx="18655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SELL PRICE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04651" y="1451223"/>
            <a:ext cx="1865528" cy="25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€58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04651" y="1702594"/>
            <a:ext cx="18655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categories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03150" y="1959769"/>
            <a:ext cx="2031950" cy="651421"/>
          </a:xfrm>
          <a:prstGeom prst="roundRect">
            <a:avLst>
              <a:gd name="adj" fmla="val 974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203150" y="1978819"/>
            <a:ext cx="2031950" cy="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4651" y="2074069"/>
            <a:ext cx="18655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MARGIN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04651" y="2178844"/>
            <a:ext cx="1865528" cy="25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04651" y="2430214"/>
            <a:ext cx="18655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shipping costs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03150" y="2687389"/>
            <a:ext cx="2031950" cy="581471"/>
          </a:xfrm>
          <a:prstGeom prst="roundRect">
            <a:avLst>
              <a:gd name="adj" fmla="val 1092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203150" y="2706439"/>
            <a:ext cx="2031950" cy="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4651" y="2801689"/>
            <a:ext cx="18655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CATEGORY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04651" y="2906464"/>
            <a:ext cx="1865528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Furniture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04651" y="3087886"/>
            <a:ext cx="18655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revenue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362051" y="504527"/>
            <a:ext cx="6578798" cy="161925"/>
          </a:xfrm>
          <a:prstGeom prst="roundRect">
            <a:avLst>
              <a:gd name="adj" fmla="val 23529"/>
            </a:avLst>
          </a:prstGeom>
          <a:solidFill>
            <a:srgbClr val="E8F4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463552" y="523577"/>
            <a:ext cx="6422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🪑 Furniture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362051" y="691753"/>
            <a:ext cx="6578798" cy="564654"/>
          </a:xfrm>
          <a:prstGeom prst="roundRect">
            <a:avLst>
              <a:gd name="adj" fmla="val 674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2463552" y="817066"/>
            <a:ext cx="63757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63552" y="717054"/>
            <a:ext cx="47804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7139630" y="717054"/>
            <a:ext cx="5440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669729" y="717054"/>
            <a:ext cx="71241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373005" y="717054"/>
            <a:ext cx="4663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463552" y="956667"/>
            <a:ext cx="63757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3552" y="834479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Carved Teak Side Table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139630" y="834479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€189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7669729" y="834479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8373005" y="834479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463552" y="1096268"/>
            <a:ext cx="63757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3552" y="974080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Brass Inlay Coffee Table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139630" y="974080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€245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669729" y="974080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Jodhpur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8373005" y="974080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463552" y="1113681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Wicker Lounge Chair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139630" y="1113681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€155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669729" y="1113681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373005" y="1113681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362051" y="1281708"/>
            <a:ext cx="6578798" cy="161925"/>
          </a:xfrm>
          <a:prstGeom prst="roundRect">
            <a:avLst>
              <a:gd name="adj" fmla="val 23529"/>
            </a:avLst>
          </a:prstGeom>
          <a:solidFill>
            <a:srgbClr val="FFF8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463552" y="1300758"/>
            <a:ext cx="482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🧵 Textile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362051" y="1468934"/>
            <a:ext cx="6578798" cy="459879"/>
          </a:xfrm>
          <a:prstGeom prst="roundRect">
            <a:avLst>
              <a:gd name="adj" fmla="val 828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2463552" y="1629073"/>
            <a:ext cx="63757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3552" y="1506885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Kanjivaram Silk Saree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7139630" y="1506885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€120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669729" y="1506885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Nadu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373005" y="1506885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2463552" y="1768673"/>
            <a:ext cx="63757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63552" y="1646486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Block-Print Linen Shirt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139630" y="1646486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€42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669729" y="1646486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Jaipur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373005" y="1646486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463552" y="1786086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Pashmina Shawl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139630" y="1786086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7669729" y="1786086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Kashmir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8373005" y="1786086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2362051" y="1954113"/>
            <a:ext cx="6578798" cy="161925"/>
          </a:xfrm>
          <a:prstGeom prst="roundRect">
            <a:avLst>
              <a:gd name="adj" fmla="val 23529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2463552" y="1973163"/>
            <a:ext cx="5269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 Jewelry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2362051" y="2141339"/>
            <a:ext cx="6578798" cy="320278"/>
          </a:xfrm>
          <a:prstGeom prst="roundRect">
            <a:avLst>
              <a:gd name="adj" fmla="val 1189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2463552" y="2301478"/>
            <a:ext cx="63757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63552" y="2179290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Kundan Necklace Set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7139630" y="2179290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€68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7669729" y="2179290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Jaipur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373005" y="2179290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463552" y="2318891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Anklet Pair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7139630" y="2318891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7669729" y="2318891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8373005" y="2318891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362051" y="2486918"/>
            <a:ext cx="6578798" cy="161925"/>
          </a:xfrm>
          <a:prstGeom prst="roundRect">
            <a:avLst>
              <a:gd name="adj" fmla="val 23529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2463552" y="2505968"/>
            <a:ext cx="2952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🍃 Tea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2362051" y="2674144"/>
            <a:ext cx="6578798" cy="459879"/>
          </a:xfrm>
          <a:prstGeom prst="roundRect">
            <a:avLst>
              <a:gd name="adj" fmla="val 828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2463552" y="2834283"/>
            <a:ext cx="63757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63552" y="2712095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Darjeeling First Flush (100g)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7139630" y="2712095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7669729" y="2712095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Darjeeling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373005" y="2712095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2463552" y="2973884"/>
            <a:ext cx="6375797" cy="0"/>
          </a:xfrm>
          <a:prstGeom prst="line">
            <a:avLst/>
          </a:prstGeom>
          <a:noFill/>
          <a:ln w="9525">
            <a:solidFill>
              <a:srgbClr val="F0F4F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463552" y="2851696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 Chai Blend (200g)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7139630" y="2851696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7669729" y="2851696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Assam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8373005" y="2851696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2463552" y="2991296"/>
            <a:ext cx="47804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 Green Tea (150g)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7139630" y="2991296"/>
            <a:ext cx="544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7669729" y="2991296"/>
            <a:ext cx="7124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Munnar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8373005" y="2991296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403027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28600" y="101501"/>
            <a:ext cx="39449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French Region (Orders / Year)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23147" y="114300"/>
            <a:ext cx="1326654" cy="174427"/>
          </a:xfrm>
          <a:prstGeom prst="roundRect">
            <a:avLst>
              <a:gd name="adj" fmla="val 72810"/>
            </a:avLst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24648" y="139601"/>
            <a:ext cx="11461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Cities · 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03150" y="529977"/>
            <a:ext cx="6807398" cy="4512022"/>
          </a:xfrm>
          <a:prstGeom prst="roundRect">
            <a:avLst>
              <a:gd name="adj" fmla="val 14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04651" y="631478"/>
            <a:ext cx="67364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Orders by City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95774" y="2722811"/>
            <a:ext cx="10424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placeholder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62949" y="529977"/>
            <a:ext cx="1777901" cy="600075"/>
          </a:xfrm>
          <a:prstGeom prst="roundRect">
            <a:avLst>
              <a:gd name="adj" fmla="val 1058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7181999" y="529977"/>
            <a:ext cx="0" cy="600075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02550" y="606177"/>
            <a:ext cx="15675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302550" y="710952"/>
            <a:ext cx="15675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1 665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02550" y="949077"/>
            <a:ext cx="15675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top 10 cities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162949" y="1206252"/>
            <a:ext cx="1777901" cy="552450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7181999" y="1206252"/>
            <a:ext cx="0" cy="552450"/>
          </a:xfrm>
          <a:prstGeom prst="line">
            <a:avLst/>
          </a:prstGeom>
          <a:noFill/>
          <a:ln w="38100">
            <a:solidFill>
              <a:srgbClr val="1560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02550" y="1282452"/>
            <a:ext cx="15675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City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302550" y="1387227"/>
            <a:ext cx="15675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Paris/IDF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02550" y="1577727"/>
            <a:ext cx="15675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670 orders (40%)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162949" y="1834902"/>
            <a:ext cx="1777901" cy="552450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7181999" y="1834902"/>
            <a:ext cx="0" cy="552450"/>
          </a:xfrm>
          <a:prstGeom prst="line">
            <a:avLst/>
          </a:prstGeom>
          <a:noFill/>
          <a:ln w="38100">
            <a:solidFill>
              <a:srgbClr val="0F9E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02550" y="1911102"/>
            <a:ext cx="15675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City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302550" y="2015877"/>
            <a:ext cx="15675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9E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Marseille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02550" y="2206377"/>
            <a:ext cx="15675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 orders (11%)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162949" y="2463552"/>
            <a:ext cx="1777901" cy="552450"/>
          </a:xfrm>
          <a:prstGeom prst="roundRect">
            <a:avLst>
              <a:gd name="adj" fmla="val 11494"/>
            </a:avLst>
          </a:prstGeom>
          <a:solidFill>
            <a:srgbClr val="FFF8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7181999" y="2463552"/>
            <a:ext cx="0" cy="552450"/>
          </a:xfrm>
          <a:prstGeom prst="line">
            <a:avLst/>
          </a:prstGeom>
          <a:noFill/>
          <a:ln w="38100">
            <a:solidFill>
              <a:srgbClr val="FFC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02550" y="2539752"/>
            <a:ext cx="156753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 &amp; IDF account for </a:t>
            </a:r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all orders. South &amp; West France growing fastest (+22% YoY).</a:t>
            </a:r>
            <a:endParaRPr lang="en-US" sz="7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304651" y="850553"/>
          <a:ext cx="6604397" cy="387801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403027"/>
          </a:xfrm>
          <a:prstGeom prst="rect">
            <a:avLst/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28600" y="101501"/>
            <a:ext cx="42188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Sales Trends by Category (2025)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491633" y="114300"/>
            <a:ext cx="1217414" cy="174427"/>
          </a:xfrm>
          <a:prstGeom prst="roundRect">
            <a:avLst>
              <a:gd name="adj" fmla="val 72810"/>
            </a:avLst>
          </a:prstGeom>
          <a:solidFill>
            <a:srgbClr val="FFC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93134" y="139601"/>
            <a:ext cx="10347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03150" y="529977"/>
            <a:ext cx="6807398" cy="4512022"/>
          </a:xfrm>
          <a:prstGeom prst="roundRect">
            <a:avLst>
              <a:gd name="adj" fmla="val 140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04651" y="631478"/>
            <a:ext cx="67364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Category — Jan to Dec 2025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95774" y="2722811"/>
            <a:ext cx="10424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placeholder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62949" y="529977"/>
            <a:ext cx="1777901" cy="355402"/>
          </a:xfrm>
          <a:prstGeom prst="roundRect">
            <a:avLst>
              <a:gd name="adj" fmla="val 1786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264450" y="644128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467600" y="593378"/>
            <a:ext cx="9093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Furniture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67600" y="717203"/>
            <a:ext cx="9093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2 035 orders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162949" y="948779"/>
            <a:ext cx="1777901" cy="355402"/>
          </a:xfrm>
          <a:prstGeom prst="roundRect">
            <a:avLst>
              <a:gd name="adj" fmla="val 1786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264450" y="1062930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0F9E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7600" y="1012180"/>
            <a:ext cx="9093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Jewelry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7600" y="1136005"/>
            <a:ext cx="9093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1 006 orders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162949" y="1367582"/>
            <a:ext cx="1777901" cy="355402"/>
          </a:xfrm>
          <a:prstGeom prst="roundRect">
            <a:avLst>
              <a:gd name="adj" fmla="val 1786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264450" y="1481733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67600" y="1430982"/>
            <a:ext cx="816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467600" y="1554807"/>
            <a:ext cx="816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935 orders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162949" y="1786384"/>
            <a:ext cx="1777901" cy="355402"/>
          </a:xfrm>
          <a:prstGeom prst="roundRect">
            <a:avLst>
              <a:gd name="adj" fmla="val 1786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264450" y="1900535"/>
            <a:ext cx="126950" cy="126950"/>
          </a:xfrm>
          <a:prstGeom prst="roundRect">
            <a:avLst>
              <a:gd name="adj" fmla="val 20008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67600" y="1849785"/>
            <a:ext cx="816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Textile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467600" y="1973610"/>
            <a:ext cx="816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235 orders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162949" y="2205186"/>
            <a:ext cx="1777901" cy="685800"/>
          </a:xfrm>
          <a:prstGeom prst="roundRect">
            <a:avLst>
              <a:gd name="adj" fmla="val 9259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7181999" y="2205186"/>
            <a:ext cx="0" cy="685800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02550" y="2281386"/>
            <a:ext cx="156753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Furniture &amp; Jewelry accelerating Q3→Q4. Tea stable. Textile scaling from Q2 launch.</a:t>
            </a:r>
            <a:endParaRPr lang="en-US" sz="7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304651" y="850553"/>
          <a:ext cx="6604397" cy="387801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58676"/>
          </a:xfrm>
          <a:prstGeom prst="rect">
            <a:avLst/>
          </a:prstGeom>
          <a:solidFill>
            <a:srgbClr val="8E44A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03150" y="88850"/>
            <a:ext cx="667712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Forwarder — Value Stream Mapping (ex: DSV · Schenker)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876306" y="128588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015907" y="126950"/>
            <a:ext cx="5683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Value-Added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674620" y="128588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14221" y="126950"/>
            <a:ext cx="6143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/ NVA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518029" y="128588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57630" y="126950"/>
            <a:ext cx="2888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26950" y="422077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0027" y="4728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422155" y="568077"/>
            <a:ext cx="1130490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RFQ by email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52251" y="1066800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4409" y="1079450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1860649" y="75232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19139" y="422077"/>
            <a:ext cx="1721197" cy="793849"/>
          </a:xfrm>
          <a:prstGeom prst="roundRect">
            <a:avLst>
              <a:gd name="adj" fmla="val 6399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722364" y="4728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2503832" y="568077"/>
            <a:ext cx="551810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CRM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944439" y="1066800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966595" y="1079450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652986" y="75232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11476" y="422077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14552" y="4728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759846" y="568077"/>
            <a:ext cx="1624158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shipment requirements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736777" y="1066800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758934" y="1079450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5445175" y="75232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03664" y="422077"/>
            <a:ext cx="1721197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06889" y="4728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5673020" y="568077"/>
            <a:ext cx="1382485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missing information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528965" y="1066800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551121" y="1079450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7237512" y="75232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296001" y="422077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099078" y="4728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304597" y="568077"/>
            <a:ext cx="1703856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customer for clarification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321302" y="1066800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343459" y="1079450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126950" y="1266676"/>
            <a:ext cx="1721048" cy="793998"/>
          </a:xfrm>
          <a:prstGeom prst="roundRect">
            <a:avLst>
              <a:gd name="adj" fmla="val 6398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30027" y="13174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222077" y="1412677"/>
            <a:ext cx="1530647" cy="4988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for customer response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52251" y="19115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74409" y="1924199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860649" y="159692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919139" y="1266676"/>
            <a:ext cx="1721197" cy="793998"/>
          </a:xfrm>
          <a:prstGeom prst="roundRect">
            <a:avLst>
              <a:gd name="adj" fmla="val 6398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2722364" y="13174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083485" y="1412677"/>
            <a:ext cx="1392504" cy="4988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transport mode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944439" y="1911548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966595" y="1924199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652986" y="159692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711476" y="1266676"/>
            <a:ext cx="1721048" cy="793998"/>
          </a:xfrm>
          <a:prstGeom prst="roundRect">
            <a:avLst>
              <a:gd name="adj" fmla="val 6398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514552" y="13174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3738137" y="1412677"/>
            <a:ext cx="1667726" cy="4988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cargo volume / weight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3736777" y="19115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3758934" y="1924199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445175" y="159692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503664" y="1266676"/>
            <a:ext cx="1721197" cy="793998"/>
          </a:xfrm>
          <a:prstGeom prst="roundRect">
            <a:avLst>
              <a:gd name="adj" fmla="val 6398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306889" y="13174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5512259" y="1412677"/>
            <a:ext cx="1704008" cy="4988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grid — 3 trucking companies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5528965" y="1911548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5551121" y="1924199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7237512" y="159692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296001" y="1266676"/>
            <a:ext cx="1721048" cy="793998"/>
          </a:xfrm>
          <a:prstGeom prst="roundRect">
            <a:avLst>
              <a:gd name="adj" fmla="val 6398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099078" y="131742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475681" y="1412677"/>
            <a:ext cx="1361688" cy="4988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3 trucking offers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7321302" y="19115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343459" y="1924199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126950" y="2111425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930027" y="21621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221924" y="2257425"/>
            <a:ext cx="1531102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grid — 3 shipping lines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152251" y="27561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74409" y="27687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1860649" y="2441674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919139" y="2111425"/>
            <a:ext cx="1721197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2722364" y="21621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2092443" y="2257425"/>
            <a:ext cx="1374440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3 shipping offers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1944439" y="2756148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966595" y="2768798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3652986" y="2441674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3711476" y="2111425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4514552" y="21621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3986643" y="2257425"/>
            <a:ext cx="1170566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transit times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3736777" y="27561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3758934" y="27687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min</a:t>
            </a:r>
            <a:endParaRPr lang="en-US" sz="600" dirty="0"/>
          </a:p>
        </p:txBody>
      </p:sp>
      <p:sp>
        <p:nvSpPr>
          <p:cNvPr id="86" name="Text 84"/>
          <p:cNvSpPr/>
          <p:nvPr/>
        </p:nvSpPr>
        <p:spPr>
          <a:xfrm>
            <a:off x="5445175" y="2441674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503664" y="2111425"/>
            <a:ext cx="1721197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6306889" y="21621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5694730" y="2257425"/>
            <a:ext cx="1338917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customs charges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5528965" y="2756148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5551121" y="2768798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600" dirty="0"/>
          </a:p>
        </p:txBody>
      </p:sp>
      <p:sp>
        <p:nvSpPr>
          <p:cNvPr id="92" name="Text 90"/>
          <p:cNvSpPr/>
          <p:nvPr/>
        </p:nvSpPr>
        <p:spPr>
          <a:xfrm>
            <a:off x="7237512" y="2441674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7296001" y="2111425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8099078" y="21621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7304597" y="2257425"/>
            <a:ext cx="1703856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— customs broker response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7321302" y="27561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7343459" y="27687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min–1 day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126950" y="2956024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930027" y="30067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224354" y="3102025"/>
            <a:ext cx="1526093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email to foreign agency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152251" y="36007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174409" y="36133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600" dirty="0"/>
          </a:p>
        </p:txBody>
      </p:sp>
      <p:sp>
        <p:nvSpPr>
          <p:cNvPr id="103" name="Text 101"/>
          <p:cNvSpPr/>
          <p:nvPr/>
        </p:nvSpPr>
        <p:spPr>
          <a:xfrm>
            <a:off x="1860649" y="3286274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1919139" y="2956024"/>
            <a:ext cx="1721197" cy="793849"/>
          </a:xfrm>
          <a:prstGeom prst="roundRect">
            <a:avLst>
              <a:gd name="adj" fmla="val 6399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Text 103"/>
          <p:cNvSpPr/>
          <p:nvPr/>
        </p:nvSpPr>
        <p:spPr>
          <a:xfrm>
            <a:off x="2722364" y="30067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119920" y="3102025"/>
            <a:ext cx="1319486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for agency answer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1944439" y="3600748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1966595" y="3613398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1h–1 day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3652986" y="3286274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3711476" y="2956024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4514552" y="30067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3880683" y="3102025"/>
            <a:ext cx="1382485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quotation worksheet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3736777" y="36007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Text 112"/>
          <p:cNvSpPr/>
          <p:nvPr/>
        </p:nvSpPr>
        <p:spPr>
          <a:xfrm>
            <a:off x="3758934" y="36133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5445175" y="3286274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16" name="Text 114"/>
          <p:cNvSpPr/>
          <p:nvPr/>
        </p:nvSpPr>
        <p:spPr>
          <a:xfrm>
            <a:off x="5503664" y="2956024"/>
            <a:ext cx="1721197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Text 115"/>
          <p:cNvSpPr/>
          <p:nvPr/>
        </p:nvSpPr>
        <p:spPr>
          <a:xfrm>
            <a:off x="6306889" y="30067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5604708" y="3102025"/>
            <a:ext cx="1519110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margins &amp; profitability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5528965" y="3600748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Text 118"/>
          <p:cNvSpPr/>
          <p:nvPr/>
        </p:nvSpPr>
        <p:spPr>
          <a:xfrm>
            <a:off x="5551121" y="3613398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121" name="Text 119"/>
          <p:cNvSpPr/>
          <p:nvPr/>
        </p:nvSpPr>
        <p:spPr>
          <a:xfrm>
            <a:off x="7237512" y="3286274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7296001" y="2956024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Text 121"/>
          <p:cNvSpPr/>
          <p:nvPr/>
        </p:nvSpPr>
        <p:spPr>
          <a:xfrm>
            <a:off x="8099078" y="3006775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7381564" y="3102025"/>
            <a:ext cx="1549774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approval (if needed)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7321302" y="3600748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Text 124"/>
          <p:cNvSpPr/>
          <p:nvPr/>
        </p:nvSpPr>
        <p:spPr>
          <a:xfrm>
            <a:off x="7343459" y="36133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600" dirty="0"/>
          </a:p>
        </p:txBody>
      </p:sp>
      <p:sp>
        <p:nvSpPr>
          <p:cNvPr id="127" name="Text 125"/>
          <p:cNvSpPr/>
          <p:nvPr/>
        </p:nvSpPr>
        <p:spPr>
          <a:xfrm>
            <a:off x="126950" y="3800624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Text 126"/>
          <p:cNvSpPr/>
          <p:nvPr/>
        </p:nvSpPr>
        <p:spPr>
          <a:xfrm>
            <a:off x="930027" y="3851374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244089" y="3946624"/>
            <a:ext cx="1486623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for manager approval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152251" y="4445347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Text 129"/>
          <p:cNvSpPr/>
          <p:nvPr/>
        </p:nvSpPr>
        <p:spPr>
          <a:xfrm>
            <a:off x="174409" y="44579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600" dirty="0"/>
          </a:p>
        </p:txBody>
      </p:sp>
      <p:sp>
        <p:nvSpPr>
          <p:cNvPr id="132" name="Text 130"/>
          <p:cNvSpPr/>
          <p:nvPr/>
        </p:nvSpPr>
        <p:spPr>
          <a:xfrm>
            <a:off x="1860649" y="4130873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1919139" y="3800624"/>
            <a:ext cx="1721197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Text 132"/>
          <p:cNvSpPr/>
          <p:nvPr/>
        </p:nvSpPr>
        <p:spPr>
          <a:xfrm>
            <a:off x="2722364" y="3851374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650" dirty="0"/>
          </a:p>
        </p:txBody>
      </p:sp>
      <p:sp>
        <p:nvSpPr>
          <p:cNvPr id="135" name="Text 133"/>
          <p:cNvSpPr/>
          <p:nvPr/>
        </p:nvSpPr>
        <p:spPr>
          <a:xfrm>
            <a:off x="1960523" y="3946624"/>
            <a:ext cx="1638428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customer quotation PDF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1944439" y="4445347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Text 135"/>
          <p:cNvSpPr/>
          <p:nvPr/>
        </p:nvSpPr>
        <p:spPr>
          <a:xfrm>
            <a:off x="1966595" y="4457998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600" dirty="0"/>
          </a:p>
        </p:txBody>
      </p:sp>
      <p:sp>
        <p:nvSpPr>
          <p:cNvPr id="138" name="Text 136"/>
          <p:cNvSpPr/>
          <p:nvPr/>
        </p:nvSpPr>
        <p:spPr>
          <a:xfrm>
            <a:off x="3652986" y="4130873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39" name="Text 137"/>
          <p:cNvSpPr/>
          <p:nvPr/>
        </p:nvSpPr>
        <p:spPr>
          <a:xfrm>
            <a:off x="3711476" y="3800624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Text 138"/>
          <p:cNvSpPr/>
          <p:nvPr/>
        </p:nvSpPr>
        <p:spPr>
          <a:xfrm>
            <a:off x="4514552" y="3851374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650" dirty="0"/>
          </a:p>
        </p:txBody>
      </p:sp>
      <p:sp>
        <p:nvSpPr>
          <p:cNvPr id="141" name="Text 139"/>
          <p:cNvSpPr/>
          <p:nvPr/>
        </p:nvSpPr>
        <p:spPr>
          <a:xfrm>
            <a:off x="3843034" y="3946624"/>
            <a:ext cx="1457932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quotation to customer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3736777" y="4445347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Text 141"/>
          <p:cNvSpPr/>
          <p:nvPr/>
        </p:nvSpPr>
        <p:spPr>
          <a:xfrm>
            <a:off x="3758934" y="44579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600" dirty="0"/>
          </a:p>
        </p:txBody>
      </p:sp>
      <p:sp>
        <p:nvSpPr>
          <p:cNvPr id="144" name="Text 142"/>
          <p:cNvSpPr/>
          <p:nvPr/>
        </p:nvSpPr>
        <p:spPr>
          <a:xfrm>
            <a:off x="5445175" y="4130873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45" name="Text 143"/>
          <p:cNvSpPr/>
          <p:nvPr/>
        </p:nvSpPr>
        <p:spPr>
          <a:xfrm>
            <a:off x="5503664" y="3800624"/>
            <a:ext cx="1721197" cy="793849"/>
          </a:xfrm>
          <a:prstGeom prst="roundRect">
            <a:avLst>
              <a:gd name="adj" fmla="val 6399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Text 144"/>
          <p:cNvSpPr/>
          <p:nvPr/>
        </p:nvSpPr>
        <p:spPr>
          <a:xfrm>
            <a:off x="6306889" y="3851374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6037655" y="3946624"/>
            <a:ext cx="653216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CRM</a:t>
            </a:r>
            <a:endParaRPr lang="en-US" sz="700" dirty="0"/>
          </a:p>
        </p:txBody>
      </p:sp>
      <p:sp>
        <p:nvSpPr>
          <p:cNvPr id="148" name="Text 146"/>
          <p:cNvSpPr/>
          <p:nvPr/>
        </p:nvSpPr>
        <p:spPr>
          <a:xfrm>
            <a:off x="5528965" y="4445347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Text 147"/>
          <p:cNvSpPr/>
          <p:nvPr/>
        </p:nvSpPr>
        <p:spPr>
          <a:xfrm>
            <a:off x="5551121" y="4457998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600" dirty="0"/>
          </a:p>
        </p:txBody>
      </p:sp>
      <p:sp>
        <p:nvSpPr>
          <p:cNvPr id="150" name="Text 148"/>
          <p:cNvSpPr/>
          <p:nvPr/>
        </p:nvSpPr>
        <p:spPr>
          <a:xfrm>
            <a:off x="7237512" y="4130873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7296001" y="3800624"/>
            <a:ext cx="1721048" cy="793849"/>
          </a:xfrm>
          <a:prstGeom prst="roundRect">
            <a:avLst>
              <a:gd name="adj" fmla="val 6399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Text 150"/>
          <p:cNvSpPr/>
          <p:nvPr/>
        </p:nvSpPr>
        <p:spPr>
          <a:xfrm>
            <a:off x="8099078" y="3851374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7481450" y="3946624"/>
            <a:ext cx="1350151" cy="4987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messages to mailbox</a:t>
            </a:r>
            <a:endParaRPr lang="en-US" sz="700" dirty="0"/>
          </a:p>
        </p:txBody>
      </p:sp>
      <p:sp>
        <p:nvSpPr>
          <p:cNvPr id="154" name="Text 152"/>
          <p:cNvSpPr/>
          <p:nvPr/>
        </p:nvSpPr>
        <p:spPr>
          <a:xfrm>
            <a:off x="7321302" y="4445347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Text 153"/>
          <p:cNvSpPr/>
          <p:nvPr/>
        </p:nvSpPr>
        <p:spPr>
          <a:xfrm>
            <a:off x="7343459" y="4457998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156" name="Text 154"/>
          <p:cNvSpPr/>
          <p:nvPr/>
        </p:nvSpPr>
        <p:spPr>
          <a:xfrm>
            <a:off x="126950" y="4645223"/>
            <a:ext cx="8890099" cy="434876"/>
          </a:xfrm>
          <a:prstGeom prst="roundRect">
            <a:avLst>
              <a:gd name="adj" fmla="val 1168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Text 155"/>
          <p:cNvSpPr/>
          <p:nvPr/>
        </p:nvSpPr>
        <p:spPr>
          <a:xfrm>
            <a:off x="253901" y="476264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Lead Time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253901" y="4867424"/>
            <a:ext cx="103621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steps · 4 waits</a:t>
            </a:r>
            <a:endParaRPr lang="en-US" sz="650" dirty="0"/>
          </a:p>
        </p:txBody>
      </p:sp>
      <p:sp>
        <p:nvSpPr>
          <p:cNvPr id="159" name="Shape 157"/>
          <p:cNvSpPr/>
          <p:nvPr/>
        </p:nvSpPr>
        <p:spPr>
          <a:xfrm>
            <a:off x="3172420" y="4695974"/>
            <a:ext cx="0" cy="333375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250823" y="4695974"/>
            <a:ext cx="193581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LOW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1250823" y="4791224"/>
            <a:ext cx="19358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5h 52m</a:t>
            </a:r>
            <a:endParaRPr lang="en-US" sz="1000" dirty="0"/>
          </a:p>
        </p:txBody>
      </p:sp>
      <p:sp>
        <p:nvSpPr>
          <p:cNvPr id="162" name="Text 160"/>
          <p:cNvSpPr/>
          <p:nvPr/>
        </p:nvSpPr>
        <p:spPr>
          <a:xfrm>
            <a:off x="1250823" y="4934099"/>
            <a:ext cx="193581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wait: ~2h 30m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5079950" y="4695974"/>
            <a:ext cx="0" cy="333375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3158203" y="4695974"/>
            <a:ext cx="19359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AVERAGE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3158203" y="4791224"/>
            <a:ext cx="19359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5h 7m</a:t>
            </a:r>
            <a:endParaRPr lang="en-US" sz="1000" dirty="0"/>
          </a:p>
        </p:txBody>
      </p:sp>
      <p:sp>
        <p:nvSpPr>
          <p:cNvPr id="166" name="Text 164"/>
          <p:cNvSpPr/>
          <p:nvPr/>
        </p:nvSpPr>
        <p:spPr>
          <a:xfrm>
            <a:off x="3158203" y="4934099"/>
            <a:ext cx="19359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wait: ~8h 25m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6987332" y="4695974"/>
            <a:ext cx="0" cy="333375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5065734" y="4695974"/>
            <a:ext cx="193581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HIGH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5065734" y="4791224"/>
            <a:ext cx="19358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4h 22m</a:t>
            </a:r>
            <a:endParaRPr lang="en-US" sz="1000" dirty="0"/>
          </a:p>
        </p:txBody>
      </p:sp>
      <p:sp>
        <p:nvSpPr>
          <p:cNvPr id="170" name="Text 168"/>
          <p:cNvSpPr/>
          <p:nvPr/>
        </p:nvSpPr>
        <p:spPr>
          <a:xfrm>
            <a:off x="5065734" y="4934099"/>
            <a:ext cx="193581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wait: ~14h 20m</a:t>
            </a:r>
            <a:endParaRPr lang="en-US" sz="650" dirty="0"/>
          </a:p>
        </p:txBody>
      </p:sp>
      <p:sp>
        <p:nvSpPr>
          <p:cNvPr id="171" name="Text 169"/>
          <p:cNvSpPr/>
          <p:nvPr/>
        </p:nvSpPr>
        <p:spPr>
          <a:xfrm>
            <a:off x="6973114" y="4695974"/>
            <a:ext cx="19359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PROCESS TIME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6973114" y="4791224"/>
            <a:ext cx="19359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 52m</a:t>
            </a:r>
            <a:endParaRPr lang="en-US" sz="1000" dirty="0"/>
          </a:p>
        </p:txBody>
      </p:sp>
      <p:sp>
        <p:nvSpPr>
          <p:cNvPr id="173" name="Text 171"/>
          <p:cNvSpPr/>
          <p:nvPr/>
        </p:nvSpPr>
        <p:spPr>
          <a:xfrm>
            <a:off x="6973114" y="4934099"/>
            <a:ext cx="19359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value-added steps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39651"/>
          </a:xfrm>
          <a:prstGeom prst="rect">
            <a:avLst/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03150" y="88850"/>
            <a:ext cx="559218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Forwarder — Value Stream Mapping (ex: Multimodal India)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812631" y="219075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52232" y="217438"/>
            <a:ext cx="5683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Value-Added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610945" y="219075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50546" y="217438"/>
            <a:ext cx="6143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/ NVA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454354" y="219075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93955" y="217438"/>
            <a:ext cx="8390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Forwarder Specific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8518029" y="219075"/>
            <a:ext cx="101501" cy="101501"/>
          </a:xfrm>
          <a:prstGeom prst="roundRect">
            <a:avLst>
              <a:gd name="adj" fmla="val 25024"/>
            </a:avLst>
          </a:prstGeom>
          <a:solidFill>
            <a:srgbClr val="7F8C8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57630" y="217438"/>
            <a:ext cx="2888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6950" y="603052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30027" y="653802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22155" y="749052"/>
            <a:ext cx="1130490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RFQ by email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52251" y="1209824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4409" y="1222474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860649" y="914251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919139" y="603052"/>
            <a:ext cx="1721197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722364" y="653802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967658" y="749052"/>
            <a:ext cx="1624158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shipment requirements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944439" y="1209824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966595" y="1222474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652986" y="914251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711476" y="603052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514552" y="653802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3880683" y="749052"/>
            <a:ext cx="1382485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missing information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736777" y="1209824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758934" y="1222474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5445175" y="914251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03664" y="603052"/>
            <a:ext cx="1721197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06889" y="653802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5512259" y="749052"/>
            <a:ext cx="1704008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customer for clarification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528965" y="1209824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51121" y="1222474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7237512" y="914251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296001" y="603052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099078" y="653802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391128" y="749052"/>
            <a:ext cx="1530647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for customer response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7321302" y="1209824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343459" y="1222474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126950" y="1409700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30027" y="1460450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291148" y="1555700"/>
            <a:ext cx="1392504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transport mode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52251" y="2016472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74409" y="2029123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1860649" y="1720900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19139" y="1409700"/>
            <a:ext cx="1721197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2722364" y="1460450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1945800" y="1555700"/>
            <a:ext cx="1667726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cargo volume / weight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944439" y="2016472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966595" y="2029123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3652986" y="1720900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711476" y="1409700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514552" y="1460450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3720072" y="1555700"/>
            <a:ext cx="1703856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trucking rates — 3 companies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736777" y="2016472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758934" y="2029123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445175" y="1720900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03664" y="1409700"/>
            <a:ext cx="1721197" cy="755898"/>
          </a:xfrm>
          <a:prstGeom prst="roundRect">
            <a:avLst>
              <a:gd name="adj" fmla="val 672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306889" y="1460450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5725850" y="1555700"/>
            <a:ext cx="1276677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for trucking rates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528965" y="2016472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5551121" y="2029123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7237512" y="1720900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296001" y="1409700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099078" y="1460450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7475681" y="1555700"/>
            <a:ext cx="1361688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3 trucking offers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7321302" y="2016472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7343459" y="2029123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126950" y="2216348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930027" y="2267099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161810" y="2362349"/>
            <a:ext cx="1651180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ocean freight — 3 lines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52251" y="2823121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74409" y="2835771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1860649" y="2527548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919139" y="2216348"/>
            <a:ext cx="1721197" cy="755898"/>
          </a:xfrm>
          <a:prstGeom prst="roundRect">
            <a:avLst>
              <a:gd name="adj" fmla="val 672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2722364" y="2267099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2184132" y="2362349"/>
            <a:ext cx="1191211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for carrier rates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1944439" y="2823121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966595" y="2835771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min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3652986" y="2527548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3711476" y="2216348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4514552" y="2267099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3884780" y="2362349"/>
            <a:ext cx="1374440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3 shipping offers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3736777" y="2823121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3758934" y="2835771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600" dirty="0"/>
          </a:p>
        </p:txBody>
      </p:sp>
      <p:sp>
        <p:nvSpPr>
          <p:cNvPr id="88" name="Text 86"/>
          <p:cNvSpPr/>
          <p:nvPr/>
        </p:nvSpPr>
        <p:spPr>
          <a:xfrm>
            <a:off x="5445175" y="2527548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5503664" y="2216348"/>
            <a:ext cx="1721197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6306889" y="2267099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5778980" y="2362349"/>
            <a:ext cx="1170566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transit times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5528965" y="2823121"/>
            <a:ext cx="1670596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5551121" y="2835771"/>
            <a:ext cx="16262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min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7237512" y="2527548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7296001" y="2216348"/>
            <a:ext cx="1721048" cy="755898"/>
          </a:xfrm>
          <a:prstGeom prst="roundRect">
            <a:avLst>
              <a:gd name="adj" fmla="val 6720"/>
            </a:avLst>
          </a:prstGeom>
          <a:solidFill>
            <a:srgbClr val="1560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8099078" y="2267099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7487067" y="2362349"/>
            <a:ext cx="1338917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customs charges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7321302" y="2823121"/>
            <a:ext cx="1670447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7343459" y="2835771"/>
            <a:ext cx="1626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600" dirty="0"/>
          </a:p>
        </p:txBody>
      </p:sp>
      <p:sp>
        <p:nvSpPr>
          <p:cNvPr id="100" name="Text 98"/>
          <p:cNvSpPr/>
          <p:nvPr/>
        </p:nvSpPr>
        <p:spPr>
          <a:xfrm>
            <a:off x="126950" y="3022997"/>
            <a:ext cx="1699171" cy="755898"/>
          </a:xfrm>
          <a:prstGeom prst="roundRect">
            <a:avLst>
              <a:gd name="adj" fmla="val 672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919162" y="307374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650" dirty="0"/>
          </a:p>
        </p:txBody>
      </p:sp>
      <p:sp>
        <p:nvSpPr>
          <p:cNvPr id="102" name="Text 100"/>
          <p:cNvSpPr/>
          <p:nvPr/>
        </p:nvSpPr>
        <p:spPr>
          <a:xfrm>
            <a:off x="135765" y="3168997"/>
            <a:ext cx="1681541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— customs broker response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152251" y="3629769"/>
            <a:ext cx="1648569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174627" y="3642420"/>
            <a:ext cx="160381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1838771" y="333419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1897261" y="3022997"/>
            <a:ext cx="1699320" cy="755898"/>
          </a:xfrm>
          <a:prstGeom prst="roundRect">
            <a:avLst>
              <a:gd name="adj" fmla="val 672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2689473" y="307374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1906075" y="3168997"/>
            <a:ext cx="1681692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3 forwarders (dest charges)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1922562" y="3629769"/>
            <a:ext cx="1648718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Text 108"/>
          <p:cNvSpPr/>
          <p:nvPr/>
        </p:nvSpPr>
        <p:spPr>
          <a:xfrm>
            <a:off x="1944937" y="3642420"/>
            <a:ext cx="16039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600" dirty="0"/>
          </a:p>
        </p:txBody>
      </p:sp>
      <p:sp>
        <p:nvSpPr>
          <p:cNvPr id="111" name="Text 109"/>
          <p:cNvSpPr/>
          <p:nvPr/>
        </p:nvSpPr>
        <p:spPr>
          <a:xfrm>
            <a:off x="3609231" y="333419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3667720" y="3022997"/>
            <a:ext cx="1699320" cy="755898"/>
          </a:xfrm>
          <a:prstGeom prst="roundRect">
            <a:avLst>
              <a:gd name="adj" fmla="val 6720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4459932" y="307374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3676534" y="3168997"/>
            <a:ext cx="1681692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to 3 destination forwarders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693021" y="3629769"/>
            <a:ext cx="1648718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14"/>
          <p:cNvSpPr/>
          <p:nvPr/>
        </p:nvSpPr>
        <p:spPr>
          <a:xfrm>
            <a:off x="3715396" y="3642420"/>
            <a:ext cx="16039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600" dirty="0"/>
          </a:p>
        </p:txBody>
      </p:sp>
      <p:sp>
        <p:nvSpPr>
          <p:cNvPr id="117" name="Text 115"/>
          <p:cNvSpPr/>
          <p:nvPr/>
        </p:nvSpPr>
        <p:spPr>
          <a:xfrm>
            <a:off x="5379690" y="3334196"/>
            <a:ext cx="467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5438180" y="3022997"/>
            <a:ext cx="1699320" cy="755898"/>
          </a:xfrm>
          <a:prstGeom prst="roundRect">
            <a:avLst>
              <a:gd name="adj" fmla="val 672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Text 117"/>
          <p:cNvSpPr/>
          <p:nvPr/>
        </p:nvSpPr>
        <p:spPr>
          <a:xfrm>
            <a:off x="6230392" y="3073747"/>
            <a:ext cx="11704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650" dirty="0"/>
          </a:p>
        </p:txBody>
      </p:sp>
      <p:sp>
        <p:nvSpPr>
          <p:cNvPr id="120" name="Text 118"/>
          <p:cNvSpPr/>
          <p:nvPr/>
        </p:nvSpPr>
        <p:spPr>
          <a:xfrm>
            <a:off x="5530030" y="3168997"/>
            <a:ext cx="1515618" cy="46077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Wait for forwarder answers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463480" y="3629769"/>
            <a:ext cx="1648718" cy="111026"/>
          </a:xfrm>
          <a:prstGeom prst="roundRect">
            <a:avLst>
              <a:gd name="adj" fmla="val 22878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Text 120"/>
          <p:cNvSpPr/>
          <p:nvPr/>
        </p:nvSpPr>
        <p:spPr>
          <a:xfrm>
            <a:off x="5485855" y="3642420"/>
            <a:ext cx="16039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>
                    <a:alpha val="9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1h–1 day</a:t>
            </a:r>
            <a:endParaRPr lang="en-US" sz="600" dirty="0"/>
          </a:p>
        </p:txBody>
      </p:sp>
      <p:sp>
        <p:nvSpPr>
          <p:cNvPr id="123" name="Text 121"/>
          <p:cNvSpPr/>
          <p:nvPr/>
        </p:nvSpPr>
        <p:spPr>
          <a:xfrm>
            <a:off x="126950" y="3829645"/>
            <a:ext cx="8890099" cy="1250454"/>
          </a:xfrm>
          <a:prstGeom prst="roundRect">
            <a:avLst>
              <a:gd name="adj" fmla="val 40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Text 122"/>
          <p:cNvSpPr/>
          <p:nvPr/>
        </p:nvSpPr>
        <p:spPr>
          <a:xfrm>
            <a:off x="253901" y="3893046"/>
            <a:ext cx="29667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196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Forwarder (Multimodal India) — 19 steps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253901" y="4067621"/>
            <a:ext cx="7816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 (min)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1070967" y="4127897"/>
            <a:ext cx="1532781" cy="88850"/>
          </a:xfrm>
          <a:prstGeom prst="roundRect">
            <a:avLst>
              <a:gd name="adj" fmla="val 285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Text 125"/>
          <p:cNvSpPr/>
          <p:nvPr/>
        </p:nvSpPr>
        <p:spPr>
          <a:xfrm>
            <a:off x="1070967" y="4127897"/>
            <a:ext cx="996255" cy="88850"/>
          </a:xfrm>
          <a:prstGeom prst="roundRect">
            <a:avLst>
              <a:gd name="adj" fmla="val 28588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Text 126"/>
          <p:cNvSpPr/>
          <p:nvPr/>
        </p:nvSpPr>
        <p:spPr>
          <a:xfrm>
            <a:off x="2644339" y="4120009"/>
            <a:ext cx="51810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min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253901" y="4302472"/>
            <a:ext cx="7816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time (min)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1070967" y="4362748"/>
            <a:ext cx="1532781" cy="88850"/>
          </a:xfrm>
          <a:prstGeom prst="roundRect">
            <a:avLst>
              <a:gd name="adj" fmla="val 285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Text 129"/>
          <p:cNvSpPr/>
          <p:nvPr/>
        </p:nvSpPr>
        <p:spPr>
          <a:xfrm>
            <a:off x="1070967" y="4362748"/>
            <a:ext cx="613023" cy="88850"/>
          </a:xfrm>
          <a:prstGeom prst="roundRect">
            <a:avLst>
              <a:gd name="adj" fmla="val 28588"/>
            </a:avLst>
          </a:prstGeom>
          <a:solidFill>
            <a:srgbClr val="196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Text 130"/>
          <p:cNvSpPr/>
          <p:nvPr/>
        </p:nvSpPr>
        <p:spPr>
          <a:xfrm>
            <a:off x="2644339" y="4354860"/>
            <a:ext cx="51810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96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min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253901" y="4537323"/>
            <a:ext cx="781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NVA waits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1070967" y="4545211"/>
            <a:ext cx="1532781" cy="88850"/>
          </a:xfrm>
          <a:prstGeom prst="roundRect">
            <a:avLst>
              <a:gd name="adj" fmla="val 285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Text 133"/>
          <p:cNvSpPr/>
          <p:nvPr/>
        </p:nvSpPr>
        <p:spPr>
          <a:xfrm>
            <a:off x="1070967" y="4545211"/>
            <a:ext cx="766316" cy="88850"/>
          </a:xfrm>
          <a:prstGeom prst="roundRect">
            <a:avLst>
              <a:gd name="adj" fmla="val 28588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Text 134"/>
          <p:cNvSpPr/>
          <p:nvPr/>
        </p:nvSpPr>
        <p:spPr>
          <a:xfrm>
            <a:off x="2644339" y="4537323"/>
            <a:ext cx="51810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waits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3289399" y="3893046"/>
            <a:ext cx="12650" cy="1123652"/>
          </a:xfrm>
          <a:prstGeom prst="rect">
            <a:avLst/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Text 136"/>
          <p:cNvSpPr/>
          <p:nvPr/>
        </p:nvSpPr>
        <p:spPr>
          <a:xfrm>
            <a:off x="3429000" y="3893046"/>
            <a:ext cx="29667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Forwarder (DSV·Schenker) — 25 steps</a:t>
            </a:r>
            <a:endParaRPr lang="en-US" sz="800" dirty="0"/>
          </a:p>
        </p:txBody>
      </p:sp>
      <p:sp>
        <p:nvSpPr>
          <p:cNvPr id="139" name="Text 137"/>
          <p:cNvSpPr/>
          <p:nvPr/>
        </p:nvSpPr>
        <p:spPr>
          <a:xfrm>
            <a:off x="3429000" y="4067621"/>
            <a:ext cx="7816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 (min)</a:t>
            </a:r>
            <a:endParaRPr lang="en-US" sz="700" dirty="0"/>
          </a:p>
        </p:txBody>
      </p:sp>
      <p:sp>
        <p:nvSpPr>
          <p:cNvPr id="140" name="Text 138"/>
          <p:cNvSpPr/>
          <p:nvPr/>
        </p:nvSpPr>
        <p:spPr>
          <a:xfrm>
            <a:off x="4246066" y="4127897"/>
            <a:ext cx="1532781" cy="88850"/>
          </a:xfrm>
          <a:prstGeom prst="roundRect">
            <a:avLst>
              <a:gd name="adj" fmla="val 285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Text 139"/>
          <p:cNvSpPr/>
          <p:nvPr/>
        </p:nvSpPr>
        <p:spPr>
          <a:xfrm>
            <a:off x="4246066" y="4127897"/>
            <a:ext cx="1379488" cy="88850"/>
          </a:xfrm>
          <a:prstGeom prst="roundRect">
            <a:avLst>
              <a:gd name="adj" fmla="val 28588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Text 140"/>
          <p:cNvSpPr/>
          <p:nvPr/>
        </p:nvSpPr>
        <p:spPr>
          <a:xfrm>
            <a:off x="5819439" y="4120009"/>
            <a:ext cx="51810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~690 min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429000" y="4302472"/>
            <a:ext cx="7816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time (min)</a:t>
            </a:r>
            <a:endParaRPr lang="en-US" sz="700" dirty="0"/>
          </a:p>
        </p:txBody>
      </p:sp>
      <p:sp>
        <p:nvSpPr>
          <p:cNvPr id="144" name="Text 142"/>
          <p:cNvSpPr/>
          <p:nvPr/>
        </p:nvSpPr>
        <p:spPr>
          <a:xfrm>
            <a:off x="4246066" y="4362748"/>
            <a:ext cx="1532781" cy="88850"/>
          </a:xfrm>
          <a:prstGeom prst="roundRect">
            <a:avLst>
              <a:gd name="adj" fmla="val 285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Text 143"/>
          <p:cNvSpPr/>
          <p:nvPr/>
        </p:nvSpPr>
        <p:spPr>
          <a:xfrm>
            <a:off x="4246066" y="4362748"/>
            <a:ext cx="919609" cy="88850"/>
          </a:xfrm>
          <a:prstGeom prst="roundRect">
            <a:avLst>
              <a:gd name="adj" fmla="val 28588"/>
            </a:avLst>
          </a:prstGeom>
          <a:solidFill>
            <a:srgbClr val="8E44A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Text 144"/>
          <p:cNvSpPr/>
          <p:nvPr/>
        </p:nvSpPr>
        <p:spPr>
          <a:xfrm>
            <a:off x="5819439" y="4354860"/>
            <a:ext cx="51810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min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429000" y="4537323"/>
            <a:ext cx="781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NVA waits</a:t>
            </a:r>
            <a:endParaRPr lang="en-US" sz="700" dirty="0"/>
          </a:p>
        </p:txBody>
      </p:sp>
      <p:sp>
        <p:nvSpPr>
          <p:cNvPr id="148" name="Text 146"/>
          <p:cNvSpPr/>
          <p:nvPr/>
        </p:nvSpPr>
        <p:spPr>
          <a:xfrm>
            <a:off x="4246066" y="4545211"/>
            <a:ext cx="1532781" cy="88850"/>
          </a:xfrm>
          <a:prstGeom prst="roundRect">
            <a:avLst>
              <a:gd name="adj" fmla="val 285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Text 147"/>
          <p:cNvSpPr/>
          <p:nvPr/>
        </p:nvSpPr>
        <p:spPr>
          <a:xfrm>
            <a:off x="4246066" y="4545211"/>
            <a:ext cx="766316" cy="88850"/>
          </a:xfrm>
          <a:prstGeom prst="roundRect">
            <a:avLst>
              <a:gd name="adj" fmla="val 28588"/>
            </a:avLst>
          </a:prstGeom>
          <a:solidFill>
            <a:srgbClr val="E971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Text 148"/>
          <p:cNvSpPr/>
          <p:nvPr/>
        </p:nvSpPr>
        <p:spPr>
          <a:xfrm>
            <a:off x="5819439" y="4537323"/>
            <a:ext cx="51810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E97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waits</a:t>
            </a:r>
            <a:endParaRPr lang="en-US" sz="700" dirty="0"/>
          </a:p>
        </p:txBody>
      </p:sp>
      <p:sp>
        <p:nvSpPr>
          <p:cNvPr id="151" name="Text 149"/>
          <p:cNvSpPr/>
          <p:nvPr/>
        </p:nvSpPr>
        <p:spPr>
          <a:xfrm>
            <a:off x="6464498" y="3893046"/>
            <a:ext cx="12650" cy="1123652"/>
          </a:xfrm>
          <a:prstGeom prst="rect">
            <a:avLst/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Text 150"/>
          <p:cNvSpPr/>
          <p:nvPr/>
        </p:nvSpPr>
        <p:spPr>
          <a:xfrm>
            <a:off x="6604099" y="3893046"/>
            <a:ext cx="2286000" cy="598587"/>
          </a:xfrm>
          <a:prstGeom prst="roundRect">
            <a:avLst>
              <a:gd name="adj" fmla="val 6365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Text 151"/>
          <p:cNvSpPr/>
          <p:nvPr/>
        </p:nvSpPr>
        <p:spPr>
          <a:xfrm>
            <a:off x="6680299" y="3943796"/>
            <a:ext cx="217627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700" dirty="0"/>
          </a:p>
        </p:txBody>
      </p:sp>
      <p:sp>
        <p:nvSpPr>
          <p:cNvPr id="154" name="Text 152"/>
          <p:cNvSpPr/>
          <p:nvPr/>
        </p:nvSpPr>
        <p:spPr>
          <a:xfrm>
            <a:off x="6680299" y="4068068"/>
            <a:ext cx="217627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forwarder has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waits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 shorter overall lead time. Carrier rate wait (240 min) is biggest NVA driver.</a:t>
            </a:r>
            <a:endParaRPr lang="en-US" sz="700" dirty="0"/>
          </a:p>
        </p:txBody>
      </p:sp>
      <p:sp>
        <p:nvSpPr>
          <p:cNvPr id="155" name="Text 153"/>
          <p:cNvSpPr/>
          <p:nvPr/>
        </p:nvSpPr>
        <p:spPr>
          <a:xfrm>
            <a:off x="6604099" y="4542383"/>
            <a:ext cx="2286000" cy="474315"/>
          </a:xfrm>
          <a:prstGeom prst="roundRect">
            <a:avLst>
              <a:gd name="adj" fmla="val 8033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Text 154"/>
          <p:cNvSpPr/>
          <p:nvPr/>
        </p:nvSpPr>
        <p:spPr>
          <a:xfrm>
            <a:off x="6680299" y="4593134"/>
            <a:ext cx="217627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lever: automate rate requests via API integration to eliminate 4h+ of passive waiting.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Kerala Shop — Business Analysis Step 1</dc:title>
  <dc:subject>PptxGenJS Presentation</dc:subject>
  <dc:creator>Roman Rouvier</dc:creator>
  <cp:lastModifiedBy>Roman Rouvier</cp:lastModifiedBy>
  <cp:revision>1</cp:revision>
  <dcterms:created xsi:type="dcterms:W3CDTF">2026-06-09T13:56:27Z</dcterms:created>
  <dcterms:modified xsi:type="dcterms:W3CDTF">2026-06-09T13:56:27Z</dcterms:modified>
</cp:coreProperties>
</file>