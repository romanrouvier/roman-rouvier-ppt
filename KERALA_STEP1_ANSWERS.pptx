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Top French Cities — Orders / Year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Orders / year</c:v>
                </c:pt>
              </c:strCache>
            </c:strRef>
          </c:tx>
          <c:spPr>
            <a:solidFill>
              <a:srgbClr val="1560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Paris/IDF</c:v>
                  </c:pt>
                  <c:pt idx="1">
                    <c:v>Marseille</c:v>
                  </c:pt>
                  <c:pt idx="2">
                    <c:v>Lyon</c:v>
                  </c:pt>
                  <c:pt idx="3">
                    <c:v>Toulouse</c:v>
                  </c:pt>
                  <c:pt idx="4">
                    <c:v>Bordeaux</c:v>
                  </c:pt>
                  <c:pt idx="5">
                    <c:v>Lille</c:v>
                  </c:pt>
                  <c:pt idx="6">
                    <c:v>Nice</c:v>
                  </c:pt>
                  <c:pt idx="7">
                    <c:v>Nantes</c:v>
                  </c:pt>
                  <c:pt idx="8">
                    <c:v>Strasbourg</c:v>
                  </c:pt>
                  <c:pt idx="9">
                    <c:v>Montpellier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670</c:v>
                </c:pt>
                <c:pt idx="1">
                  <c:v>190</c:v>
                </c:pt>
                <c:pt idx="2">
                  <c:v>170</c:v>
                </c:pt>
                <c:pt idx="3">
                  <c:v>125</c:v>
                </c:pt>
                <c:pt idx="4">
                  <c:v>105</c:v>
                </c:pt>
                <c:pt idx="5">
                  <c:v>105</c:v>
                </c:pt>
                <c:pt idx="6">
                  <c:v>85</c:v>
                </c:pt>
                <c:pt idx="7">
                  <c:v>85</c:v>
                </c:pt>
                <c:pt idx="8">
                  <c:v>65</c:v>
                </c:pt>
                <c:pt idx="9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C3E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Furniture</c:v>
                </c:pt>
              </c:strCache>
            </c:strRef>
          </c:tx>
          <c:spPr>
            <a:solidFill>
              <a:srgbClr val="156082"/>
            </a:solidFill>
            <a:ln w="38100" cap="flat">
              <a:solidFill>
                <a:srgbClr val="1560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56082"/>
              </a:solidFill>
              <a:ln w="9525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109</c:v>
                </c:pt>
                <c:pt idx="1">
                  <c:v>129</c:v>
                </c:pt>
                <c:pt idx="2">
                  <c:v>141</c:v>
                </c:pt>
                <c:pt idx="3">
                  <c:v>143</c:v>
                </c:pt>
                <c:pt idx="4">
                  <c:v>173</c:v>
                </c:pt>
                <c:pt idx="5">
                  <c:v>192</c:v>
                </c:pt>
                <c:pt idx="6">
                  <c:v>173</c:v>
                </c:pt>
                <c:pt idx="7">
                  <c:v>188</c:v>
                </c:pt>
                <c:pt idx="8">
                  <c:v>183</c:v>
                </c:pt>
                <c:pt idx="9">
                  <c:v>191</c:v>
                </c:pt>
                <c:pt idx="10">
                  <c:v>201</c:v>
                </c:pt>
                <c:pt idx="11">
                  <c:v>212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Jewelry</c:v>
                </c:pt>
              </c:strCache>
            </c:strRef>
          </c:tx>
          <c:spPr>
            <a:solidFill>
              <a:srgbClr val="0F9ED5"/>
            </a:solidFill>
            <a:ln w="38100" cap="flat">
              <a:solidFill>
                <a:srgbClr val="0F9ED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F9ED5"/>
              </a:solidFill>
              <a:ln w="9525" cap="flat">
                <a:solidFill>
                  <a:srgbClr val="0F9ED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</c:v>
                </c:pt>
                <c:pt idx="1">
                  <c:v>36</c:v>
                </c:pt>
                <c:pt idx="2">
                  <c:v>54</c:v>
                </c:pt>
                <c:pt idx="3">
                  <c:v>58</c:v>
                </c:pt>
                <c:pt idx="4">
                  <c:v>71</c:v>
                </c:pt>
                <c:pt idx="5">
                  <c:v>88</c:v>
                </c:pt>
                <c:pt idx="6">
                  <c:v>100</c:v>
                </c:pt>
                <c:pt idx="7">
                  <c:v>107</c:v>
                </c:pt>
                <c:pt idx="8">
                  <c:v>100</c:v>
                </c:pt>
                <c:pt idx="9">
                  <c:v>113</c:v>
                </c:pt>
                <c:pt idx="10">
                  <c:v>119</c:v>
                </c:pt>
                <c:pt idx="11">
                  <c:v>140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</c:v>
                </c:pt>
              </c:strCache>
            </c:strRef>
          </c:tx>
          <c:spPr>
            <a:solidFill>
              <a:srgbClr val="196B24"/>
            </a:solidFill>
            <a:ln w="38100" cap="flat">
              <a:solidFill>
                <a:srgbClr val="196B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96B24"/>
              </a:solidFill>
              <a:ln w="9525" cap="flat">
                <a:solidFill>
                  <a:srgbClr val="196B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60</c:v>
                </c:pt>
                <c:pt idx="1">
                  <c:v>69</c:v>
                </c:pt>
                <c:pt idx="2">
                  <c:v>81</c:v>
                </c:pt>
                <c:pt idx="3">
                  <c:v>80</c:v>
                </c:pt>
                <c:pt idx="4">
                  <c:v>84</c:v>
                </c:pt>
                <c:pt idx="5">
                  <c:v>80</c:v>
                </c:pt>
                <c:pt idx="6">
                  <c:v>75</c:v>
                </c:pt>
                <c:pt idx="7">
                  <c:v>80</c:v>
                </c:pt>
                <c:pt idx="8">
                  <c:v>81</c:v>
                </c:pt>
                <c:pt idx="9">
                  <c:v>89</c:v>
                </c:pt>
                <c:pt idx="10">
                  <c:v>81</c:v>
                </c:pt>
                <c:pt idx="11">
                  <c:v>75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Textile</c:v>
                </c:pt>
              </c:strCache>
            </c:strRef>
          </c:tx>
          <c:spPr>
            <a:solidFill>
              <a:srgbClr val="E97132"/>
            </a:solidFill>
            <a:ln w="38100" cap="flat">
              <a:solidFill>
                <a:srgbClr val="E971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97132"/>
              </a:solidFill>
              <a:ln w="9525" cap="flat">
                <a:solidFill>
                  <a:srgbClr val="E971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3</c:v>
                </c:pt>
                <c:pt idx="1">
                  <c:v>6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39</c:v>
                </c:pt>
                <c:pt idx="6">
                  <c:v>50</c:v>
                </c:pt>
                <c:pt idx="7">
                  <c:v>59</c:v>
                </c:pt>
                <c:pt idx="8">
                  <c:v>14</c:v>
                </c:pt>
                <c:pt idx="9">
                  <c:v>12</c:v>
                </c:pt>
                <c:pt idx="10">
                  <c:v>11</c:v>
                </c:pt>
                <c:pt idx="11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60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051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82501" cy="482501"/>
          </a:xfrm>
          <a:prstGeom prst="roundRect">
            <a:avLst>
              <a:gd name="adj" fmla="val 189513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28165" y="369838"/>
            <a:ext cx="1405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17402" y="336500"/>
            <a:ext cx="212739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82280" y="403175"/>
            <a:ext cx="2385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Drop-Shipping · Est. January 2025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838051"/>
            <a:ext cx="8229600" cy="3949898"/>
          </a:xfrm>
          <a:prstGeom prst="roundRect">
            <a:avLst>
              <a:gd name="adj" fmla="val 321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38351" y="1598712"/>
            <a:ext cx="2667298" cy="234851"/>
          </a:xfrm>
          <a:prstGeom prst="roundRect">
            <a:avLst>
              <a:gd name="adj" fmla="val 108154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18892" y="1649462"/>
            <a:ext cx="2306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ANALYSIS — STEP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70973" y="2036713"/>
            <a:ext cx="600205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Reviews Analysis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886121" y="2474863"/>
            <a:ext cx="537160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Supply Chain Mapping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191000" y="3065413"/>
            <a:ext cx="762000" cy="38100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54653" y="3357414"/>
            <a:ext cx="64345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Identifying brand strengths &amp; weaknesses · Mapping the current logistics workflow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03537" y="3741539"/>
            <a:ext cx="2479179" cy="285750"/>
          </a:xfrm>
          <a:prstGeom prst="roundRect">
            <a:avLst>
              <a:gd name="adj" fmla="val 88889"/>
            </a:avLst>
          </a:prstGeom>
          <a:solidFill>
            <a:srgbClr val="E8F4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332137" y="3817739"/>
            <a:ext cx="20624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 · Furniture · Tea · Jewels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87516" y="3741539"/>
            <a:ext cx="2152799" cy="285750"/>
          </a:xfrm>
          <a:prstGeom prst="roundRect">
            <a:avLst>
              <a:gd name="adj" fmla="val 88889"/>
            </a:avLst>
          </a:prstGeom>
          <a:solidFill>
            <a:srgbClr val="E8F4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16116" y="3817739"/>
            <a:ext cx="17295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Drop-shipping · 1 Supplier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28625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114300"/>
            <a:ext cx="15746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327600" y="114300"/>
            <a:ext cx="3460849" cy="200025"/>
          </a:xfrm>
          <a:prstGeom prst="roundRect">
            <a:avLst>
              <a:gd name="adj" fmla="val 126984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0000" y="152400"/>
            <a:ext cx="3219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— Strengths &amp; Weaknesses from Customer Reviews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800" y="581025"/>
            <a:ext cx="4178350" cy="4410075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04800" y="604837"/>
            <a:ext cx="4178350" cy="0"/>
          </a:xfrm>
          <a:prstGeom prst="line">
            <a:avLst/>
          </a:prstGeom>
          <a:noFill/>
          <a:ln w="47625">
            <a:solidFill>
              <a:srgbClr val="196B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501" y="755600"/>
            <a:ext cx="3899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STRENGTHS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2501" y="107617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551" y="1038076"/>
            <a:ext cx="29154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product craftsmanship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7551" y="1171426"/>
            <a:ext cx="29154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"Outstanding wood quality, beautiful finish, incredibly solid"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2501" y="140315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7551" y="1365052"/>
            <a:ext cx="28809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product pricing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7551" y="1498402"/>
            <a:ext cx="288094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nightstand price is good" — value for the quality level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82501" y="173012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7551" y="1692027"/>
            <a:ext cx="3556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Diverse, high-quality product range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7551" y="1825377"/>
            <a:ext cx="35567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"Decorative items and premium Indian tea — all exceeded expectations"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82501" y="205710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7551" y="2019002"/>
            <a:ext cx="28779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 Indian identity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7551" y="2152352"/>
            <a:ext cx="28779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Carved teak furniture, textiles, teas — strong differentiator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82501" y="238407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7551" y="2345978"/>
            <a:ext cx="26438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repurchase intent despite issues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7551" y="2479328"/>
            <a:ext cx="26438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"Quality makes it worth considering future purchases"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660850" y="581025"/>
            <a:ext cx="4178350" cy="4410075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660850" y="604837"/>
            <a:ext cx="4178350" cy="0"/>
          </a:xfrm>
          <a:prstGeom prst="line">
            <a:avLst/>
          </a:prstGeom>
          <a:noFill/>
          <a:ln w="47625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38551" y="755600"/>
            <a:ext cx="3899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WEAKNESSES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38551" y="107617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003602" y="1038076"/>
            <a:ext cx="25755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Excessively high shipping costs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03602" y="1171426"/>
            <a:ext cx="25755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"Surprisingly high fee" — mentioned by all reviewers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838551" y="140315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03602" y="1365052"/>
            <a:ext cx="33266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delivery (9–10 days)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03602" y="1498402"/>
            <a:ext cx="33266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"Expected express shipping for those costs" — frustrating mismatch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38551" y="173012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003602" y="1692027"/>
            <a:ext cx="3718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Poor shipment tracking &amp; communication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03602" y="1825377"/>
            <a:ext cx="3718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"Better communication regarding shipment status" — customers in the dark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38551" y="205710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003602" y="2019002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Non-competitive logistics vs. the market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03602" y="2152352"/>
            <a:ext cx="34717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stores offer similar products with lower fees and faster delivery"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38551" y="238407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003602" y="2345978"/>
            <a:ext cx="30269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Single-supplier dependency (operational risk)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03602" y="2479328"/>
            <a:ext cx="3026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supplier only — any disruption halts all 4 product categories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93502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350" y="101501"/>
            <a:ext cx="14728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25119" y="119063"/>
            <a:ext cx="4339530" cy="155377"/>
          </a:xfrm>
          <a:prstGeom prst="roundRect">
            <a:avLst>
              <a:gd name="adj" fmla="val 163474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77519" y="144363"/>
            <a:ext cx="41154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— Current Workflow &amp; Product Flow — Horizontal, Color-Coded by Actor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77701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7302" y="460028"/>
            <a:ext cx="4558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65733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05334" y="460028"/>
            <a:ext cx="57230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667917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07518" y="460028"/>
            <a:ext cx="7402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(India)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34704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774305" y="460028"/>
            <a:ext cx="856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Forwarder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715941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855541" y="460028"/>
            <a:ext cx="5849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Trucking Co.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530477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70078" y="460028"/>
            <a:ext cx="75219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Customs Broker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5509022" y="456902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48623" y="460028"/>
            <a:ext cx="7342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Airport / Airline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77701" y="698004"/>
            <a:ext cx="960239" cy="1989534"/>
          </a:xfrm>
          <a:prstGeom prst="roundRect">
            <a:avLst>
              <a:gd name="adj" fmla="val 6613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68970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26245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6960" y="1637258"/>
            <a:ext cx="90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orders online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215801" y="2525762"/>
            <a:ext cx="884039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8726" y="2538413"/>
            <a:ext cx="7981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163241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95995" y="698004"/>
            <a:ext cx="960388" cy="1989534"/>
          </a:xfrm>
          <a:prstGeom prst="roundRect">
            <a:avLst>
              <a:gd name="adj" fmla="val 6612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687264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744539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325253" y="1637258"/>
            <a:ext cx="9018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 notifies Supplier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1334095" y="2525762"/>
            <a:ext cx="884188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377019" y="2538413"/>
            <a:ext cx="79834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2281684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14439" y="698004"/>
            <a:ext cx="960239" cy="1989534"/>
          </a:xfrm>
          <a:prstGeom prst="roundRect">
            <a:avLst>
              <a:gd name="adj" fmla="val 6613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805708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862983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443698" y="1637258"/>
            <a:ext cx="90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prepares &amp; packs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452539" y="2525762"/>
            <a:ext cx="884039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495464" y="2538413"/>
            <a:ext cx="7981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days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399979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32733" y="698004"/>
            <a:ext cx="960388" cy="1989534"/>
          </a:xfrm>
          <a:prstGeom prst="roundRect">
            <a:avLst>
              <a:gd name="adj" fmla="val 6612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924002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981277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561991" y="1637258"/>
            <a:ext cx="9018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contacts Forwarder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3570833" y="2525762"/>
            <a:ext cx="884188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613757" y="2538413"/>
            <a:ext cx="79834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518422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51177" y="698004"/>
            <a:ext cx="960239" cy="1989534"/>
          </a:xfrm>
          <a:prstGeom prst="roundRect">
            <a:avLst>
              <a:gd name="adj" fmla="val 6613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042446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099721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680436" y="1637258"/>
            <a:ext cx="90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Forwarder sends quotation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4689277" y="2525762"/>
            <a:ext cx="884039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732202" y="2538413"/>
            <a:ext cx="7981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3h – 2d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636716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769471" y="698004"/>
            <a:ext cx="960239" cy="1989534"/>
          </a:xfrm>
          <a:prstGeom prst="roundRect">
            <a:avLst>
              <a:gd name="adj" fmla="val 6613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160740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218015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798731" y="1637258"/>
            <a:ext cx="90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prepares docs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5807571" y="2525762"/>
            <a:ext cx="884039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850496" y="2538413"/>
            <a:ext cx="7981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6755011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887766" y="698004"/>
            <a:ext cx="960239" cy="1989534"/>
          </a:xfrm>
          <a:prstGeom prst="roundRect">
            <a:avLst>
              <a:gd name="adj" fmla="val 6613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279035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336310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924160" y="1684883"/>
            <a:ext cx="8874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Trucking to airport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6925866" y="2525762"/>
            <a:ext cx="884039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968791" y="2538413"/>
            <a:ext cx="7981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7873305" y="1611809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006060" y="698004"/>
            <a:ext cx="960239" cy="1989534"/>
          </a:xfrm>
          <a:prstGeom prst="roundRect">
            <a:avLst>
              <a:gd name="adj" fmla="val 6613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397329" y="7614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454604" y="797868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8035320" y="1637258"/>
            <a:ext cx="90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Customs Declaration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8044160" y="2525762"/>
            <a:ext cx="884039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087085" y="2538413"/>
            <a:ext cx="7981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8846981" y="2789039"/>
            <a:ext cx="1193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177701" y="3052465"/>
            <a:ext cx="1119932" cy="1989534"/>
          </a:xfrm>
          <a:prstGeom prst="roundRect">
            <a:avLst>
              <a:gd name="adj" fmla="val 5670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48742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706017" y="3152329"/>
            <a:ext cx="631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205363" y="3991719"/>
            <a:ext cx="1064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Airport scan &amp; warehouse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215801" y="4880223"/>
            <a:ext cx="1043732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257129" y="4892873"/>
            <a:ext cx="9610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h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1322933" y="3966270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455688" y="3052465"/>
            <a:ext cx="1120080" cy="1989534"/>
          </a:xfrm>
          <a:prstGeom prst="roundRect">
            <a:avLst>
              <a:gd name="adj" fmla="val 5669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1926878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1952579" y="3152329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1483349" y="3991719"/>
            <a:ext cx="10647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&amp; load plane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1493788" y="4880223"/>
            <a:ext cx="1043880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1535114" y="4892873"/>
            <a:ext cx="9612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2601069" y="3966270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2733824" y="3052465"/>
            <a:ext cx="1119932" cy="1989534"/>
          </a:xfrm>
          <a:prstGeom prst="roundRect">
            <a:avLst>
              <a:gd name="adj" fmla="val 5670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3204865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3230566" y="3152329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2811127" y="4039344"/>
            <a:ext cx="96532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 flies to France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2771924" y="4880223"/>
            <a:ext cx="1043732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2813252" y="4892873"/>
            <a:ext cx="9610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h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879056" y="3966270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011811" y="3052465"/>
            <a:ext cx="1120080" cy="1989534"/>
          </a:xfrm>
          <a:prstGeom prst="roundRect">
            <a:avLst>
              <a:gd name="adj" fmla="val 5669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4483001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4508702" y="3152329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4039472" y="3991719"/>
            <a:ext cx="10647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Arrival: discharge &amp; unpack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4049911" y="4880223"/>
            <a:ext cx="1043880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4091238" y="4892873"/>
            <a:ext cx="9612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5157192" y="3966270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5289947" y="3052465"/>
            <a:ext cx="1120080" cy="1989534"/>
          </a:xfrm>
          <a:prstGeom prst="roundRect">
            <a:avLst>
              <a:gd name="adj" fmla="val 5669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Text 103"/>
          <p:cNvSpPr/>
          <p:nvPr/>
        </p:nvSpPr>
        <p:spPr>
          <a:xfrm>
            <a:off x="5761137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5786838" y="3152329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5317608" y="3991719"/>
            <a:ext cx="10647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 Customs: Import Declaration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5328047" y="4880223"/>
            <a:ext cx="1043880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5369373" y="4892873"/>
            <a:ext cx="9612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</a:t>
            </a:r>
            <a:endParaRPr lang="en-US" sz="600" dirty="0"/>
          </a:p>
        </p:txBody>
      </p:sp>
      <p:sp>
        <p:nvSpPr>
          <p:cNvPr id="110" name="Text 108"/>
          <p:cNvSpPr/>
          <p:nvPr/>
        </p:nvSpPr>
        <p:spPr>
          <a:xfrm>
            <a:off x="6435328" y="3966270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6568083" y="3052465"/>
            <a:ext cx="1120080" cy="1989534"/>
          </a:xfrm>
          <a:prstGeom prst="roundRect">
            <a:avLst>
              <a:gd name="adj" fmla="val 566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Text 110"/>
          <p:cNvSpPr/>
          <p:nvPr/>
        </p:nvSpPr>
        <p:spPr>
          <a:xfrm>
            <a:off x="7039273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7064974" y="3152329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6595744" y="3991719"/>
            <a:ext cx="10647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 pays duties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6606183" y="4880223"/>
            <a:ext cx="1043880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6647509" y="4892873"/>
            <a:ext cx="9612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600" dirty="0"/>
          </a:p>
        </p:txBody>
      </p:sp>
      <p:sp>
        <p:nvSpPr>
          <p:cNvPr id="117" name="Text 115"/>
          <p:cNvSpPr/>
          <p:nvPr/>
        </p:nvSpPr>
        <p:spPr>
          <a:xfrm>
            <a:off x="7713464" y="3966270"/>
            <a:ext cx="109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7846219" y="3052465"/>
            <a:ext cx="1120080" cy="1989534"/>
          </a:xfrm>
          <a:prstGeom prst="roundRect">
            <a:avLst>
              <a:gd name="adj" fmla="val 5669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8317409" y="3115866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Text 118"/>
          <p:cNvSpPr/>
          <p:nvPr/>
        </p:nvSpPr>
        <p:spPr>
          <a:xfrm>
            <a:off x="8343110" y="3152329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7873880" y="3991719"/>
            <a:ext cx="10647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Trucking delivers to Customer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884319" y="4880223"/>
            <a:ext cx="1043880" cy="111026"/>
          </a:xfrm>
          <a:prstGeom prst="roundRect">
            <a:avLst>
              <a:gd name="adj" fmla="val 34316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Text 121"/>
          <p:cNvSpPr/>
          <p:nvPr/>
        </p:nvSpPr>
        <p:spPr>
          <a:xfrm>
            <a:off x="7925645" y="4892873"/>
            <a:ext cx="9612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8 h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93502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01501"/>
            <a:ext cx="14728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221039" y="109538"/>
            <a:ext cx="3618161" cy="174427"/>
          </a:xfrm>
          <a:prstGeom prst="roundRect">
            <a:avLst>
              <a:gd name="adj" fmla="val 145620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73439" y="134838"/>
            <a:ext cx="3379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Catalog — Purchase Costs &amp; Selling Prices (2025)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03150" y="520452"/>
            <a:ext cx="2349401" cy="1009352"/>
          </a:xfrm>
          <a:prstGeom prst="roundRect">
            <a:avLst>
              <a:gd name="adj" fmla="val 880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26963" y="520452"/>
            <a:ext cx="0" cy="1009352"/>
          </a:xfrm>
          <a:prstGeom prst="line">
            <a:avLst/>
          </a:prstGeom>
          <a:noFill/>
          <a:ln w="47625">
            <a:solidFill>
              <a:srgbClr val="1560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7726" y="609302"/>
            <a:ext cx="20888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77726" y="1134666"/>
            <a:ext cx="20478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7726" y="879128"/>
            <a:ext cx="126256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 / Furniture / Tea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7726" y="983903"/>
            <a:ext cx="12625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= Selling Price ÷ 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825972" y="887164"/>
            <a:ext cx="599629" cy="183952"/>
          </a:xfrm>
          <a:prstGeom prst="roundRect">
            <a:avLst>
              <a:gd name="adj" fmla="val 82848"/>
            </a:avLst>
          </a:prstGeom>
          <a:solidFill>
            <a:srgbClr val="E6F4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927473" y="912465"/>
            <a:ext cx="4045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7726" y="1190179"/>
            <a:ext cx="10037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Bijoux / Jewelry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77726" y="1294954"/>
            <a:ext cx="10037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= Selling Price ÷ 5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825972" y="1198215"/>
            <a:ext cx="599629" cy="183952"/>
          </a:xfrm>
          <a:prstGeom prst="roundRect">
            <a:avLst>
              <a:gd name="adj" fmla="val 82848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927473" y="1223516"/>
            <a:ext cx="4045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3150" y="1606004"/>
            <a:ext cx="2349401" cy="1136452"/>
          </a:xfrm>
          <a:prstGeom prst="roundRect">
            <a:avLst>
              <a:gd name="adj" fmla="val 782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6963" y="1606004"/>
            <a:ext cx="0" cy="1136452"/>
          </a:xfrm>
          <a:prstGeom prst="line">
            <a:avLst/>
          </a:prstGeom>
          <a:noFill/>
          <a:ln w="47625">
            <a:solidFill>
              <a:srgbClr val="0F9E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7726" y="1694855"/>
            <a:ext cx="20888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0F9E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Summary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7726" y="2086868"/>
            <a:ext cx="20478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7726" y="1939230"/>
            <a:ext cx="3609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928961" y="1939230"/>
            <a:ext cx="50657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€69 – €149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77726" y="2277368"/>
            <a:ext cx="20478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7726" y="2129730"/>
            <a:ext cx="5105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Furniture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787575" y="2129730"/>
            <a:ext cx="6507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€119 – €2,490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77726" y="2467868"/>
            <a:ext cx="20478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7726" y="2320230"/>
            <a:ext cx="1848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985367" y="2320230"/>
            <a:ext cx="4490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€13 – €19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77726" y="2510730"/>
            <a:ext cx="4022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Jewelry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928961" y="2510730"/>
            <a:ext cx="50657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€69 – €119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704951" y="520452"/>
            <a:ext cx="6235898" cy="206276"/>
          </a:xfrm>
          <a:prstGeom prst="roundRect">
            <a:avLst>
              <a:gd name="adj" fmla="val 24627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06452" y="571202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588651" y="571202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Price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75952" y="571202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Cost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165791" y="571202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704951" y="752029"/>
            <a:ext cx="6235898" cy="133350"/>
          </a:xfrm>
          <a:prstGeom prst="roundRect">
            <a:avLst>
              <a:gd name="adj" fmla="val 28571"/>
            </a:avLst>
          </a:prstGeom>
          <a:solidFill>
            <a:srgbClr val="E8F4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06452" y="771079"/>
            <a:ext cx="61535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704951" y="910679"/>
            <a:ext cx="6235898" cy="599480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2806452" y="1070818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06452" y="948630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588651" y="948630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€ 129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375952" y="948630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€ 43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165791" y="948630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2806452" y="1210419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06452" y="1088231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Pantalons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588651" y="1088231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€ 89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375952" y="1088231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165791" y="1088231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2806452" y="1350020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06452" y="1227832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Hauts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88651" y="1227832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€ 69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375952" y="1227832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165791" y="1227832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2806452" y="1367433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Vestes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588651" y="1367433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€ 149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7375952" y="1367433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165791" y="1367433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704951" y="1535460"/>
            <a:ext cx="6235898" cy="133350"/>
          </a:xfrm>
          <a:prstGeom prst="roundRect">
            <a:avLst>
              <a:gd name="adj" fmla="val 28571"/>
            </a:avLst>
          </a:prstGeom>
          <a:solidFill>
            <a:srgbClr val="E8F4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2806452" y="1554510"/>
            <a:ext cx="61535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MEUBLES (FURNITURE)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704951" y="1694111"/>
            <a:ext cx="6235898" cy="1297484"/>
          </a:xfrm>
          <a:prstGeom prst="roundRect">
            <a:avLst>
              <a:gd name="adj" fmla="val 293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2806452" y="1854250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806452" y="1732062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4 personnes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588651" y="1732062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€ 690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7375952" y="1732062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€ 230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8165791" y="1732062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2806452" y="1993850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806452" y="1871663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8 personnes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588651" y="1871663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€ 1,290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7375952" y="1871663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€ 430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8165791" y="1871663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806452" y="2133451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06452" y="2011263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Chaises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588651" y="2011263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€ 129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375952" y="2011263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€ 43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8165791" y="2011263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806452" y="2273052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806452" y="2150864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Lits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588651" y="2150864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€ 1,490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7375952" y="2150864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€ 497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8165791" y="2150864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2806452" y="2412653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806452" y="2290465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de nuit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6588651" y="2290465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€ 249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7375952" y="2290465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€ 83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8165791" y="2290465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2806452" y="2552254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06452" y="2430066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Décoration murale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6588651" y="2430066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€ 119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75952" y="2430066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8165791" y="2430066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806452" y="2691854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806452" y="2569666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 Intérieur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6588651" y="2569666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€ 149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75952" y="2569666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8165791" y="2569666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806452" y="2831455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806452" y="2709267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 Extérieur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6588651" y="2709267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€ 189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7375952" y="2709267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€ 63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165791" y="2709267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806452" y="2848868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Salons de Jardin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6588651" y="284886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€ 2,490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7375952" y="284886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€ 830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8165791" y="2848868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2704951" y="3016895"/>
            <a:ext cx="6235898" cy="133350"/>
          </a:xfrm>
          <a:prstGeom prst="roundRect">
            <a:avLst>
              <a:gd name="adj" fmla="val 28571"/>
            </a:avLst>
          </a:prstGeom>
          <a:solidFill>
            <a:srgbClr val="E8F4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2806452" y="3035945"/>
            <a:ext cx="61535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THÉS (TEA)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2704951" y="3175546"/>
            <a:ext cx="6235898" cy="599480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Shape 107"/>
          <p:cNvSpPr/>
          <p:nvPr/>
        </p:nvSpPr>
        <p:spPr>
          <a:xfrm>
            <a:off x="2806452" y="3335685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806452" y="3213497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Halmari Tea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6588651" y="3213497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7375952" y="3213497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8165791" y="3213497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114" name="Shape 112"/>
          <p:cNvSpPr/>
          <p:nvPr/>
        </p:nvSpPr>
        <p:spPr>
          <a:xfrm>
            <a:off x="2806452" y="3475286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06452" y="3353098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Shree Tea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6588651" y="335309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7375952" y="335309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</a:t>
            </a:r>
            <a:endParaRPr lang="en-US" sz="700" dirty="0"/>
          </a:p>
        </p:txBody>
      </p:sp>
      <p:sp>
        <p:nvSpPr>
          <p:cNvPr id="118" name="Text 116"/>
          <p:cNvSpPr/>
          <p:nvPr/>
        </p:nvSpPr>
        <p:spPr>
          <a:xfrm>
            <a:off x="8165791" y="3353098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2806452" y="3614886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06452" y="3492698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Rujani Tea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6588651" y="349269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7375952" y="349269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8165791" y="3492698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124" name="Text 122"/>
          <p:cNvSpPr/>
          <p:nvPr/>
        </p:nvSpPr>
        <p:spPr>
          <a:xfrm>
            <a:off x="2806452" y="3632299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 Masala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6588651" y="3632299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7375952" y="3632299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8165791" y="3632299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66.7 %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2704951" y="3800326"/>
            <a:ext cx="6235898" cy="133350"/>
          </a:xfrm>
          <a:prstGeom prst="roundRect">
            <a:avLst>
              <a:gd name="adj" fmla="val 28571"/>
            </a:avLst>
          </a:prstGeom>
          <a:solidFill>
            <a:srgbClr val="FFF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Text 127"/>
          <p:cNvSpPr/>
          <p:nvPr/>
        </p:nvSpPr>
        <p:spPr>
          <a:xfrm>
            <a:off x="2806452" y="3819376"/>
            <a:ext cx="61535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BIJOUX (JEWELRY) — 80% MARGIN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2704951" y="3958977"/>
            <a:ext cx="6235898" cy="599480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Shape 129"/>
          <p:cNvSpPr/>
          <p:nvPr/>
        </p:nvSpPr>
        <p:spPr>
          <a:xfrm>
            <a:off x="2806452" y="4119116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806452" y="3996928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Boucles d'oreilles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6588651" y="399692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€ 69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7375952" y="3996928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165791" y="3996928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80.0 %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2806452" y="4258717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2806452" y="4136529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Colliers</a:t>
            </a:r>
            <a:endParaRPr lang="en-US" sz="700" dirty="0"/>
          </a:p>
        </p:txBody>
      </p:sp>
      <p:sp>
        <p:nvSpPr>
          <p:cNvPr id="138" name="Text 136"/>
          <p:cNvSpPr/>
          <p:nvPr/>
        </p:nvSpPr>
        <p:spPr>
          <a:xfrm>
            <a:off x="6588651" y="4136529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€ 119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7375952" y="4136529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</a:t>
            </a:r>
            <a:endParaRPr lang="en-US" sz="700" dirty="0"/>
          </a:p>
        </p:txBody>
      </p:sp>
      <p:sp>
        <p:nvSpPr>
          <p:cNvPr id="140" name="Text 138"/>
          <p:cNvSpPr/>
          <p:nvPr/>
        </p:nvSpPr>
        <p:spPr>
          <a:xfrm>
            <a:off x="8165791" y="4136529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80.0 %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2806452" y="4398318"/>
            <a:ext cx="60328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806452" y="4276130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Bracelets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6588651" y="4276130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€ 79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7375952" y="4276130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8165791" y="4276130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80.0 %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806452" y="4415730"/>
            <a:ext cx="38739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Bagues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6588651" y="4415730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€ 89</a:t>
            </a:r>
            <a:endParaRPr lang="en-US" sz="700" dirty="0"/>
          </a:p>
        </p:txBody>
      </p:sp>
      <p:sp>
        <p:nvSpPr>
          <p:cNvPr id="148" name="Text 146"/>
          <p:cNvSpPr/>
          <p:nvPr/>
        </p:nvSpPr>
        <p:spPr>
          <a:xfrm>
            <a:off x="7375952" y="4415730"/>
            <a:ext cx="803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8165791" y="4415730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80.0 %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19100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14300"/>
            <a:ext cx="14728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770215" y="122337"/>
            <a:ext cx="3068985" cy="174427"/>
          </a:xfrm>
          <a:prstGeom prst="roundRect">
            <a:avLst>
              <a:gd name="adj" fmla="val 145620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22615" y="147638"/>
            <a:ext cx="28194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by Geographic Zone — 3,000 Orders / Year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28600" y="571500"/>
            <a:ext cx="2349401" cy="136445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52413" y="571500"/>
            <a:ext cx="0" cy="1364456"/>
          </a:xfrm>
          <a:prstGeom prst="line">
            <a:avLst/>
          </a:prstGeom>
          <a:noFill/>
          <a:ln w="47625">
            <a:solidFill>
              <a:srgbClr val="1560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8625" y="698450"/>
            <a:ext cx="20369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8625" y="1255365"/>
            <a:ext cx="199697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8625" y="1034802"/>
            <a:ext cx="10814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Orders / Year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943546" y="1006227"/>
            <a:ext cx="4916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8625" y="1534567"/>
            <a:ext cx="199697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8625" y="1333054"/>
            <a:ext cx="3904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559868" y="1323529"/>
            <a:ext cx="883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1,925 (64%)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8625" y="1612255"/>
            <a:ext cx="3833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559868" y="1602730"/>
            <a:ext cx="883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1,075 (36%)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" y="2037457"/>
            <a:ext cx="2349401" cy="2014835"/>
          </a:xfrm>
          <a:prstGeom prst="roundRect">
            <a:avLst>
              <a:gd name="adj" fmla="val 504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1000" y="2164407"/>
            <a:ext cx="2085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Export Cities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1000" y="2629346"/>
            <a:ext cx="2044601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1000" y="2446883"/>
            <a:ext cx="5706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Anvers (BE)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13670" y="2437358"/>
            <a:ext cx="216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81000" y="2889498"/>
            <a:ext cx="2044601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1000" y="2707035"/>
            <a:ext cx="7972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Amsterdam (NL)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213670" y="2697510"/>
            <a:ext cx="216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81000" y="3149650"/>
            <a:ext cx="2044601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1000" y="2967186"/>
            <a:ext cx="7347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Dortmund (DE)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213670" y="2957661"/>
            <a:ext cx="216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81000" y="3409801"/>
            <a:ext cx="2044601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1000" y="3227338"/>
            <a:ext cx="659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Spezia (IT)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13670" y="3217813"/>
            <a:ext cx="216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81000" y="3669953"/>
            <a:ext cx="2044601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1000" y="3487489"/>
            <a:ext cx="5370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 (PT)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284214" y="3477964"/>
            <a:ext cx="1442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81000" y="3747641"/>
            <a:ext cx="3265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Others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213670" y="3738116"/>
            <a:ext cx="216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8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2755702" y="571500"/>
          <a:ext cx="6159698" cy="44450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19100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14300"/>
            <a:ext cx="14728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KERALA SHOP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284887" y="122337"/>
            <a:ext cx="3554313" cy="174427"/>
          </a:xfrm>
          <a:prstGeom prst="roundRect">
            <a:avLst>
              <a:gd name="adj" fmla="val 145620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37287" y="147638"/>
            <a:ext cx="331450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Sales by Category — Units Sold (Jan – Dec 2025)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28600" y="546050"/>
            <a:ext cx="2076450" cy="514350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47650" y="546050"/>
            <a:ext cx="0" cy="51435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4401" y="698450"/>
            <a:ext cx="7631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Furniture (2025)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92560" y="622250"/>
            <a:ext cx="95348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2,035 units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32000" y="546050"/>
            <a:ext cx="2076599" cy="514350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451050" y="546050"/>
            <a:ext cx="0" cy="514350"/>
          </a:xfrm>
          <a:prstGeom prst="line">
            <a:avLst/>
          </a:prstGeom>
          <a:noFill/>
          <a:ln w="38100">
            <a:solidFill>
              <a:srgbClr val="0F9E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47801" y="750838"/>
            <a:ext cx="706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Jewelry (2025)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362920" y="712738"/>
            <a:ext cx="9873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9E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1,006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35550" y="546050"/>
            <a:ext cx="2076450" cy="514350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54600" y="546050"/>
            <a:ext cx="0" cy="514350"/>
          </a:xfrm>
          <a:prstGeom prst="line">
            <a:avLst/>
          </a:prstGeom>
          <a:noFill/>
          <a:ln w="38100">
            <a:solidFill>
              <a:srgbClr val="196B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1350" y="750838"/>
            <a:ext cx="5161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 (2025)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730329" y="712738"/>
            <a:ext cx="8200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96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 units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38950" y="546050"/>
            <a:ext cx="2076450" cy="514350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0" y="546050"/>
            <a:ext cx="0" cy="514350"/>
          </a:xfrm>
          <a:prstGeom prst="line">
            <a:avLst/>
          </a:prstGeom>
          <a:noFill/>
          <a:ln w="38100">
            <a:solidFill>
              <a:srgbClr val="E971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54751" y="750838"/>
            <a:ext cx="664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 (2025)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933730" y="712738"/>
            <a:ext cx="8200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97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 units</a:t>
            </a:r>
            <a:endParaRPr lang="en-US" sz="12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228600" y="1161901"/>
          <a:ext cx="8686800" cy="3854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Kerala Shop — Business Analysis Step 1</dc:title>
  <dc:subject>PptxGenJS Presentation</dc:subject>
  <dc:creator>Roman Rouvier</dc:creator>
  <cp:lastModifiedBy>Roman Rouvier</cp:lastModifiedBy>
  <cp:revision>1</cp:revision>
  <dcterms:created xsi:type="dcterms:W3CDTF">2026-06-05T13:13:16Z</dcterms:created>
  <dcterms:modified xsi:type="dcterms:W3CDTF">2026-06-05T13:13:16Z</dcterms:modified>
</cp:coreProperties>
</file>