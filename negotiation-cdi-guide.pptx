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89583"/>
            <a:ext cx="3276600" cy="260152"/>
          </a:xfrm>
          <a:prstGeom prst="roundRect">
            <a:avLst>
              <a:gd name="adj" fmla="val 1464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51" y="1252984"/>
            <a:ext cx="2927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DE COACHING — CONFIDENTIEL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1729085"/>
            <a:ext cx="5182005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spcAft>
                <a:spcPts val="1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Réussir ma Négociation CDI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34901" y="3064966"/>
            <a:ext cx="5182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1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Préparation Stratégique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4901" y="3655516"/>
            <a:ext cx="51820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Interlocutrice : Camille Martin — Responsable Développement RH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868192"/>
            <a:ext cx="51820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AE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44 000 € brut annuel · CDI · Prise de poste septembre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0198" y="0"/>
            <a:ext cx="2793802" cy="5143500"/>
          </a:xfrm>
          <a:prstGeom prst="rect">
            <a:avLst/>
          </a:prstGeom>
          <a:solidFill>
            <a:srgbClr val="162C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398" y="1005632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81239" y="110713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 — Posture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26398" y="1468934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81239" y="1570434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— Pitch QCG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26398" y="1932236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81239" y="2033736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 — +/−/+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26398" y="2395538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81239" y="2497038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4 — Objections IE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26398" y="2858839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81239" y="2960340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5 — Leviers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6398" y="3322141"/>
            <a:ext cx="2641402" cy="336352"/>
          </a:xfrm>
          <a:prstGeom prst="roundRect">
            <a:avLst>
              <a:gd name="adj" fmla="val 2265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81239" y="3423642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6 — Contrat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11871" y="4014043"/>
            <a:ext cx="16703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étapes · Méthodes IE &amp; CoDév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50750" cy="406301"/>
          </a:xfrm>
          <a:prstGeom prst="rect">
            <a:avLst/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451" y="231725"/>
            <a:ext cx="51886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— 6 Étapes Clés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550" y="1157585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4125" y="1157585"/>
            <a:ext cx="0" cy="1120527"/>
          </a:xfrm>
          <a:prstGeom prst="line">
            <a:avLst/>
          </a:prstGeom>
          <a:noFill/>
          <a:ln w="5715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401" y="1309985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0401" y="1614636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d'esprit &amp; Posture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0401" y="1859012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Non-verbal (55%) · Paraverbal (38%) — Mehrabian · Amy Cuddy · IE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58753" y="1157585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87328" y="1157585"/>
            <a:ext cx="0" cy="1120527"/>
          </a:xfrm>
          <a:prstGeom prst="line">
            <a:avLst/>
          </a:prstGeom>
          <a:noFill/>
          <a:ln w="57150">
            <a:solidFill>
              <a:srgbClr val="C49A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604" y="1309985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93604" y="1614636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Pitch QCG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93604" y="1859012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· Checking · Glorifying — Asseoir sa valeur dès l'ouverture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5550" y="2405063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4125" y="2405063"/>
            <a:ext cx="0" cy="1120527"/>
          </a:xfrm>
          <a:prstGeom prst="line">
            <a:avLst/>
          </a:prstGeom>
          <a:noFill/>
          <a:ln w="57150">
            <a:solidFill>
              <a:srgbClr val="2B7A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0401" y="2557463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0401" y="2862114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+ / − / 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0401" y="310648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Contre-proposition constructive — 39k€ → 44k€ avec alignement marché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8753" y="2405063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87328" y="2405063"/>
            <a:ext cx="0" cy="1120527"/>
          </a:xfrm>
          <a:prstGeom prst="line">
            <a:avLst/>
          </a:prstGeom>
          <a:noFill/>
          <a:ln w="5715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604" y="2557463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93604" y="2862114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Objections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93604" y="3106489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IE · Grille Kotsou — CoDéveloppement — focus sur les faits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5550" y="3652540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84125" y="3652540"/>
            <a:ext cx="0" cy="1120527"/>
          </a:xfrm>
          <a:prstGeom prst="line">
            <a:avLst/>
          </a:prstGeom>
          <a:noFill/>
          <a:ln w="57150">
            <a:solidFill>
              <a:srgbClr val="C49A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0401" y="3804940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0401" y="4109591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Leviers Alternatifs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0401" y="4353967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· Télétravail · Prime — Élargir le gâteau si blocage fixe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8753" y="3652540"/>
            <a:ext cx="2876252" cy="1120527"/>
          </a:xfrm>
          <a:prstGeom prst="roundRect">
            <a:avLst>
              <a:gd name="adj" fmla="val 6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387328" y="3652540"/>
            <a:ext cx="0" cy="1120527"/>
          </a:xfrm>
          <a:prstGeom prst="line">
            <a:avLst/>
          </a:prstGeom>
          <a:noFill/>
          <a:ln w="57150">
            <a:solidFill>
              <a:srgbClr val="2B7A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604" y="3804940"/>
            <a:ext cx="251297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593604" y="4109591"/>
            <a:ext cx="251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de Fin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93604" y="4353967"/>
            <a:ext cx="251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CoDév · Plan d'action — Formaliser accords &amp; prochaine étape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246013"/>
            <a:ext cx="74221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d'Esprit &amp; Posture — Avant d'Ouvrir la Bouche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965002"/>
            <a:ext cx="4127599" cy="400079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8701" y="1884015"/>
            <a:ext cx="3721298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8701" y="1142702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6572" y="1347490"/>
            <a:ext cx="4338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0701" y="1268164"/>
            <a:ext cx="21170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Non-Verbal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701" y="1493490"/>
            <a:ext cx="2117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L'ancrage &amp; l'ouverture (Mehrabian)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8701" y="207927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1851" y="2041178"/>
            <a:ext cx="3588511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5 min de postures haute puissance — bras ouverts, épaules déployées, respiration ventrale (Amy Cuddy → ↓ cortisol)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8701" y="272057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1851" y="2682478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Ancrage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deux pieds bien à plat au sol, dos droit mais détendu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8701" y="318194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1851" y="3143845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Gestes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mains visibles sur la table, mouvements ouverts et posés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8701" y="3643313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1851" y="3605213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visuel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direct et chaleureux avec Camille — sincérité + détermination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8701" y="4168080"/>
            <a:ext cx="3721298" cy="488752"/>
          </a:xfrm>
          <a:prstGeom prst="roundRect">
            <a:avLst>
              <a:gd name="adj" fmla="val 7795"/>
            </a:avLst>
          </a:prstGeom>
          <a:solidFill>
            <a:srgbClr val="EE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82513" y="4168080"/>
            <a:ext cx="0" cy="488752"/>
          </a:xfrm>
          <a:prstGeom prst="line">
            <a:avLst/>
          </a:prstGeom>
          <a:noFill/>
          <a:ln w="47625">
            <a:solidFill>
              <a:srgbClr val="2B7A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276" y="4269581"/>
            <a:ext cx="34881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état interne se lit immédiatement. Je cultive la confiance avant d'entrer dans la pièce.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0850" y="965002"/>
            <a:ext cx="4127599" cy="4000798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64001" y="1884015"/>
            <a:ext cx="3721298" cy="0"/>
          </a:xfrm>
          <a:prstGeom prst="line">
            <a:avLst/>
          </a:prstGeom>
          <a:noFill/>
          <a:ln w="9525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001" y="1142702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1872" y="1347490"/>
            <a:ext cx="4338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6001" y="1268164"/>
            <a:ext cx="1313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Paraverbal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6001" y="1493490"/>
            <a:ext cx="13137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voix de l'expert (IE)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001" y="207927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67151" y="2041178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Timbre grave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registre bas, rassurant — pas de voix qui monte en fin de phrase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64001" y="2540645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67151" y="2502545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affirmé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audible et posé, sans agressivité ni excès de discrétion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64001" y="300201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67151" y="2963912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 lent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je ralentis mon débit, notamment pour les chiffres et les arguments clés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64001" y="346337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67151" y="3425279"/>
            <a:ext cx="3588511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Pauses silencieuses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après mes punchlines, je laisse l'air — le silence montre la maîtrise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64001" y="3988147"/>
            <a:ext cx="3721298" cy="488752"/>
          </a:xfrm>
          <a:prstGeom prst="roundRect">
            <a:avLst>
              <a:gd name="adj" fmla="val 7795"/>
            </a:avLst>
          </a:prstGeom>
          <a:solidFill>
            <a:srgbClr val="EE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887813" y="3988147"/>
            <a:ext cx="0" cy="488752"/>
          </a:xfrm>
          <a:prstGeom prst="line">
            <a:avLst/>
          </a:prstGeom>
          <a:noFill/>
          <a:ln w="47625">
            <a:solidFill>
              <a:srgbClr val="2B7A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576" y="4089648"/>
            <a:ext cx="34881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cible l'émotion souhaitée chez Camille : </a:t>
            </a:r>
            <a:pPr algn="l" indent="0" marL="0">
              <a:buNone/>
            </a:pPr>
            <a:r>
              <a:rPr lang="en-US" sz="950" b="1" i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 et sérénité</a:t>
            </a:r>
            <a:pPr algn="l" indent="0" marL="0">
              <a:buNone/>
            </a:pPr>
            <a:r>
              <a:rPr lang="en-US" sz="950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 voix en est le premier vecteur.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246013"/>
            <a:ext cx="54469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Pitch d'Ouverture — Méthode QCG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965002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asseoir ma valeur unique dès les premières minutes, avant toute discussion salariale.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550" y="1209377"/>
            <a:ext cx="2726234" cy="3756422"/>
          </a:xfrm>
          <a:prstGeom prst="roundRect">
            <a:avLst>
              <a:gd name="adj" fmla="val 2795"/>
            </a:avLst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374428"/>
            <a:ext cx="24182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33251" y="2150566"/>
            <a:ext cx="2370832" cy="0"/>
          </a:xfrm>
          <a:prstGeom prst="line">
            <a:avLst/>
          </a:prstGeom>
          <a:noFill/>
          <a:ln w="9525">
            <a:solidFill>
              <a:srgbClr val="2B4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251" y="1882378"/>
            <a:ext cx="24182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— La légitimité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3251" y="2282279"/>
            <a:ext cx="241824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D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Rappeler ma double compétence unique construite en 2 ans d'alternance chez Horizon Impact.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3251" y="3569940"/>
            <a:ext cx="2370832" cy="1230809"/>
          </a:xfrm>
          <a:prstGeom prst="roundRect">
            <a:avLst>
              <a:gd name="adj" fmla="val 4127"/>
            </a:avLst>
          </a:prstGeom>
          <a:solidFill>
            <a:srgbClr val="162C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202" y="3671441"/>
            <a:ext cx="2159270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C8D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"Voilà deux ans que je suis une personne de référence sur l'analyse de données énergétiques et la coordination de projets complexes pour nos collectivités partenaires."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8734" y="1209377"/>
            <a:ext cx="2726382" cy="3756422"/>
          </a:xfrm>
          <a:prstGeom prst="roundRect">
            <a:avLst>
              <a:gd name="adj" fmla="val 2795"/>
            </a:avLst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86435" y="1374428"/>
            <a:ext cx="241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386435" y="2312491"/>
            <a:ext cx="2370981" cy="0"/>
          </a:xfrm>
          <a:prstGeom prst="line">
            <a:avLst/>
          </a:prstGeom>
          <a:noFill/>
          <a:ln w="9525">
            <a:solidFill>
              <a:srgbClr val="3A8E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6435" y="1882378"/>
            <a:ext cx="2418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0E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— La preuve par les faits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6435" y="2444204"/>
            <a:ext cx="241840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E0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Ancrer ma valeur dans des réalisations concrètes et mesurables — le "proof of concept" vivant.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6435" y="3569940"/>
            <a:ext cx="2370981" cy="1230809"/>
          </a:xfrm>
          <a:prstGeom prst="roundRect">
            <a:avLst>
              <a:gd name="adj" fmla="val 4127"/>
            </a:avLst>
          </a:prstGeom>
          <a:solidFill>
            <a:srgbClr val="1F607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13386" y="3671441"/>
            <a:ext cx="2159422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D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"J'ai piloté de bout en bout un comité de suivi régional de 50+ participants : KPIs clarifiés, échanges fluidifiés entre élus et techniciens, prises de décisions stratégiques débloquées."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62067" y="1209377"/>
            <a:ext cx="2726382" cy="3756422"/>
          </a:xfrm>
          <a:prstGeom prst="roundRect">
            <a:avLst>
              <a:gd name="adj" fmla="val 2795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39768" y="1374428"/>
            <a:ext cx="241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239768" y="2312491"/>
            <a:ext cx="2370981" cy="0"/>
          </a:xfrm>
          <a:prstGeom prst="line">
            <a:avLst/>
          </a:prstGeom>
          <a:noFill/>
          <a:ln w="9525">
            <a:solidFill>
              <a:srgbClr val="A67E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9768" y="1882378"/>
            <a:ext cx="2418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GLORIFYING — L'impact futur projeté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9768" y="2444204"/>
            <a:ext cx="241840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Traduire mes compétences passées en valeur immédiatement opérationnelle pour l'entreprise.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39768" y="3569940"/>
            <a:ext cx="2370981" cy="1230809"/>
          </a:xfrm>
          <a:prstGeom prst="roundRect">
            <a:avLst>
              <a:gd name="adj" fmla="val 4127"/>
            </a:avLst>
          </a:prstGeom>
          <a:solidFill>
            <a:srgbClr val="A67E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66718" y="3671441"/>
            <a:ext cx="2159422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FFF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 double compétence technique et relationnelle est immédiatement opérationnelle pour sécuriser et accélérer vos projets de transition écologique dès la rentrée de septembre."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246013"/>
            <a:ext cx="629701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Contre-Proposition — Méthode + / − / 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787301"/>
            <a:ext cx="9144000" cy="279202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1061740"/>
            <a:ext cx="9144000" cy="0"/>
          </a:xfrm>
          <a:prstGeom prst="line">
            <a:avLst/>
          </a:prstGeom>
          <a:noFill/>
          <a:ln w="9525">
            <a:solidFill>
              <a:srgbClr val="D4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550" y="850702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passer de l'offre initiale de 39 000 € à ma cible de 44 000 € brut annuel, en préservant la relation.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5550" y="1168003"/>
            <a:ext cx="2743200" cy="3848546"/>
          </a:xfrm>
          <a:prstGeom prst="roundRect">
            <a:avLst>
              <a:gd name="adj" fmla="val 2778"/>
            </a:avLst>
          </a:prstGeom>
          <a:solidFill>
            <a:srgbClr val="27AE60">
              <a:alpha val="6000"/>
            </a:srgbClr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301" y="1314004"/>
            <a:ext cx="239669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52301" y="2248942"/>
            <a:ext cx="2349698" cy="0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301" y="1707654"/>
            <a:ext cx="239669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PLUS — Reconnaissance &amp; Alignement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2301" y="2304455"/>
            <a:ext cx="2396692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l'offre et exprimer mon attachement sincère à Horizon Impact. Créer un terreau de confiance.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2301" y="3297138"/>
            <a:ext cx="2349698" cy="1573411"/>
          </a:xfrm>
          <a:prstGeom prst="roundRect">
            <a:avLst>
              <a:gd name="adj" fmla="val 3229"/>
            </a:avLst>
          </a:prstGeom>
          <a:solidFill>
            <a:srgbClr val="27AE60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9252" y="3398639"/>
            <a:ext cx="2137714" cy="137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A5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"Je tiens à te remercier pour cette proposition de CDI — elle confirme la reconnaissance de mon travail. Je partage profondément la culture d'Horizon Impact et mon souhait premier est de me projeter à vos côtés."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251" y="1168003"/>
            <a:ext cx="2743349" cy="3848546"/>
          </a:xfrm>
          <a:prstGeom prst="roundRect">
            <a:avLst>
              <a:gd name="adj" fmla="val 2778"/>
            </a:avLst>
          </a:prstGeom>
          <a:solidFill>
            <a:srgbClr val="E74C3C">
              <a:alpha val="6000"/>
            </a:srgbClr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7002" y="1314004"/>
            <a:ext cx="239684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397002" y="2087017"/>
            <a:ext cx="2349847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7002" y="1707654"/>
            <a:ext cx="23968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MOINS — Réalité Marché &amp; Point de Friction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97002" y="2142530"/>
            <a:ext cx="2396844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Introduire l'écart avec le marché et la concurrence de façon factuelle, sans agressivité.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97002" y="3639741"/>
            <a:ext cx="2349847" cy="1230809"/>
          </a:xfrm>
          <a:prstGeom prst="roundRect">
            <a:avLst>
              <a:gd name="adj" fmla="val 4127"/>
            </a:avLst>
          </a:prstGeom>
          <a:solidFill>
            <a:srgbClr val="C0392B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23952" y="3741241"/>
            <a:ext cx="2137865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6B10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"Cependant, ma double compétence très recherchée se situe entre 43 000 € et 47 000 € sur le marché. J'ai été contacté pour un poste similaire à 45 000 € avec budget formation dédié."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45101" y="1168003"/>
            <a:ext cx="2743349" cy="3848546"/>
          </a:xfrm>
          <a:prstGeom prst="roundRect">
            <a:avLst>
              <a:gd name="adj" fmla="val 2778"/>
            </a:avLst>
          </a:prstGeom>
          <a:solidFill>
            <a:srgbClr val="1E3A6E">
              <a:alpha val="6000"/>
            </a:srgbClr>
          </a:solidFill>
          <a:ln w="19050">
            <a:solidFill>
              <a:srgbClr val="1E3A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41852" y="1314004"/>
            <a:ext cx="2396844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241852" y="2087017"/>
            <a:ext cx="2349847" cy="0"/>
          </a:xfrm>
          <a:prstGeom prst="line">
            <a:avLst/>
          </a:prstGeom>
          <a:noFill/>
          <a:ln w="9525">
            <a:solidFill>
              <a:srgbClr val="1E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1852" y="1707654"/>
            <a:ext cx="239684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PLUS — La Solution Constructive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41852" y="2142530"/>
            <a:ext cx="2396844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Formuler ma cible comme un investissement rentable et cohérent — pas une revendication.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1852" y="3182689"/>
            <a:ext cx="2349847" cy="1402110"/>
          </a:xfrm>
          <a:prstGeom prst="roundRect">
            <a:avLst>
              <a:gd name="adj" fmla="val 3623"/>
            </a:avLst>
          </a:prstGeom>
          <a:solidFill>
            <a:srgbClr val="1E3A6E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68802" y="3284190"/>
            <a:ext cx="2137865" cy="119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"Pour que cette transition soit une réussite commune, je propose d'ajuster ma rémunération à 44 000 € brut annuel — juste reflet de ma contribution et cohérent avec Horizon Impact."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41852" y="4660999"/>
            <a:ext cx="1843385" cy="209550"/>
          </a:xfrm>
          <a:prstGeom prst="roundRect">
            <a:avLst>
              <a:gd name="adj" fmla="val 18182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3352" y="4699099"/>
            <a:ext cx="1673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: 44 000 € brut / 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98375"/>
            <a:ext cx="75238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Objections — Intelligence Émotionnelle &amp; CoDéveloppement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939701"/>
            <a:ext cx="4057650" cy="4026098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550" y="939701"/>
            <a:ext cx="4057650" cy="696813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041202"/>
            <a:ext cx="3776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251" y="1199852"/>
            <a:ext cx="37762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"L'équité interne nous empêche de déroger à la grille pour les jeunes recrues."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3251" y="1763464"/>
            <a:ext cx="37762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IE — GRILLE KOTSOU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251" y="1938040"/>
            <a:ext cx="3702248" cy="828973"/>
          </a:xfrm>
          <a:prstGeom prst="roundRect">
            <a:avLst>
              <a:gd name="adj" fmla="val 4596"/>
            </a:avLst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52301" y="1938040"/>
            <a:ext cx="0" cy="828973"/>
          </a:xfrm>
          <a:prstGeom prst="line">
            <a:avLst/>
          </a:prstGeom>
          <a:noFill/>
          <a:ln w="38100">
            <a:solidFill>
              <a:srgbClr val="C49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651" y="2026890"/>
            <a:ext cx="350425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Émotion de Camille 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Peur (danger d'ouvrir la boîte de Pandore)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651" y="2352526"/>
            <a:ext cx="350425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sous-jacent 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Sécurité — protéger le système interne qu'elle vient de bâtir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3251" y="2792313"/>
            <a:ext cx="3702248" cy="174427"/>
          </a:xfrm>
          <a:prstGeom prst="roundRect">
            <a:avLst>
              <a:gd name="adj" fmla="val 21843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102" y="2817614"/>
            <a:ext cx="35950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→ PEUR → BESOIN DE SÉCURITÉ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251" y="3068241"/>
            <a:ext cx="37762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B7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RÉPONSE CODÉV — FOCUS FAITS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3251" y="3242816"/>
            <a:ext cx="3702248" cy="1154609"/>
          </a:xfrm>
          <a:prstGeom prst="roundRect">
            <a:avLst>
              <a:gd name="adj" fmla="val 3300"/>
            </a:avLst>
          </a:prstGeom>
          <a:solidFill>
            <a:srgbClr val="EE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2301" y="3242816"/>
            <a:ext cx="0" cy="1154609"/>
          </a:xfrm>
          <a:prstGeom prst="line">
            <a:avLst/>
          </a:prstGeom>
          <a:noFill/>
          <a:ln w="38100">
            <a:solidFill>
              <a:srgbClr val="2B7A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651" y="3331666"/>
            <a:ext cx="3504259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"Je comprends ton besoin d'équité — c'est indispensable pour la cohésion. Justement, mon profil n'est pas une sortie d'école classique : 2 ans d'expérience prouvée chez vous, zéro onboarding. </a:t>
            </a:r>
            <a:pPr algn="l" indent="0" marL="0">
              <a:lnSpc>
                <a:spcPts val="1283"/>
              </a:lnSpc>
              <a:buNone/>
            </a:pPr>
            <a:r>
              <a:rPr lang="en-US" sz="950" b="1" i="1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valoriser cette double casquette unique dans vos grilles actuelles ?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5600" y="939701"/>
            <a:ext cx="12650" cy="4026098"/>
          </a:xfrm>
          <a:prstGeom prst="rect">
            <a:avLst/>
          </a:prstGeom>
          <a:solidFill>
            <a:srgbClr val="D4DC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0651" y="939701"/>
            <a:ext cx="4057799" cy="4026098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30651" y="939701"/>
            <a:ext cx="4057799" cy="696813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8352" y="1041202"/>
            <a:ext cx="37764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08352" y="1199852"/>
            <a:ext cx="377644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 contexte économique actuel nous impose une grande prudence budgétaire."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08352" y="1763464"/>
            <a:ext cx="37764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IE — GRILLE KOTSOU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8352" y="1938040"/>
            <a:ext cx="3702397" cy="828973"/>
          </a:xfrm>
          <a:prstGeom prst="roundRect">
            <a:avLst>
              <a:gd name="adj" fmla="val 4596"/>
            </a:avLst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927402" y="1938040"/>
            <a:ext cx="0" cy="828973"/>
          </a:xfrm>
          <a:prstGeom prst="line">
            <a:avLst/>
          </a:prstGeom>
          <a:noFill/>
          <a:ln w="38100">
            <a:solidFill>
              <a:srgbClr val="C49A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0752" y="2026890"/>
            <a:ext cx="3504411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Émotion de Camille 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Peur financière — posture de défense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60752" y="2352526"/>
            <a:ext cx="3504411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sous-jacent 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A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Être rassurée sur le ROI de mon recrutement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8352" y="2792313"/>
            <a:ext cx="3702397" cy="174427"/>
          </a:xfrm>
          <a:prstGeom prst="roundRect">
            <a:avLst>
              <a:gd name="adj" fmla="val 21843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97202" y="2817614"/>
            <a:ext cx="35951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FINANCIER → PEUR → BESOIN DE ROI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08352" y="3068241"/>
            <a:ext cx="37764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B7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RÉPONSE CODÉV — L'ÉQUATION ROI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08352" y="3242816"/>
            <a:ext cx="3702397" cy="991791"/>
          </a:xfrm>
          <a:prstGeom prst="roundRect">
            <a:avLst>
              <a:gd name="adj" fmla="val 3842"/>
            </a:avLst>
          </a:prstGeom>
          <a:solidFill>
            <a:srgbClr val="EEF8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927402" y="3242816"/>
            <a:ext cx="0" cy="991791"/>
          </a:xfrm>
          <a:prstGeom prst="line">
            <a:avLst/>
          </a:prstGeom>
          <a:noFill/>
          <a:ln w="38100">
            <a:solidFill>
              <a:srgbClr val="2B7A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0752" y="3331666"/>
            <a:ext cx="3504411" cy="814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prudence est légitime. L'équation : un recrutement externe = 6 mois + frais de chasse importants + retard sur nos projets énergie. Me confirmer à ce poste = </a:t>
            </a:r>
            <a:pPr algn="l" indent="0" marL="0">
              <a:lnSpc>
                <a:spcPts val="1283"/>
              </a:lnSpc>
              <a:buNone/>
            </a:pPr>
            <a:r>
              <a:rPr lang="en-US" sz="950" b="1" i="1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immédiat et KPIs sécurisés dès le 1er jour. Es-tu d'accord avec ce constat ?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246013"/>
            <a:ext cx="560083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Leviers Alternatifs — Élargir le Gâteau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787301"/>
            <a:ext cx="9144000" cy="422077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1204615"/>
            <a:ext cx="9144000" cy="0"/>
          </a:xfrm>
          <a:prstGeom prst="line">
            <a:avLst/>
          </a:prstGeom>
          <a:noFill/>
          <a:ln w="9525">
            <a:solidFill>
              <a:srgbClr val="D4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550" y="850702"/>
            <a:ext cx="86015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salaire fixe reste bloqué à 39 000 €, je ne capitule pas — j'active ces leviers hors-salaire pour nourrir mes besoins d'évolution et de reconnaissance.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55550" y="1361777"/>
            <a:ext cx="2709267" cy="3604022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5550" y="1361777"/>
            <a:ext cx="2709267" cy="644426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251" y="1514177"/>
            <a:ext cx="240094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3251" y="1663303"/>
            <a:ext cx="24009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Formation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251" y="2158603"/>
            <a:ext cx="2353866" cy="596801"/>
          </a:xfrm>
          <a:prstGeom prst="roundRect">
            <a:avLst>
              <a:gd name="adj" fmla="val 8512"/>
            </a:avLst>
          </a:prstGeom>
          <a:solidFill>
            <a:srgbClr val="EEF0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202" y="2247454"/>
            <a:ext cx="214196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0202" y="2542729"/>
            <a:ext cx="21419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contractuel annuel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3251" y="2831604"/>
            <a:ext cx="2400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un engagement écrit sur un budget formation annuel conséquent, notamment gestion de projet avancée et data.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251" y="3994249"/>
            <a:ext cx="2353866" cy="81915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2301" y="3994249"/>
            <a:ext cx="0" cy="819150"/>
          </a:xfrm>
          <a:prstGeom prst="line">
            <a:avLst/>
          </a:prstGeom>
          <a:noFill/>
          <a:ln w="38100">
            <a:solidFill>
              <a:srgbClr val="C0C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651" y="4070449"/>
            <a:ext cx="212890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le budget salarial est bloqué, compensons l'écart par un budget formation dédié pour faire grandir mon expertise chez Horizon Impact."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17218" y="1361777"/>
            <a:ext cx="2709416" cy="3604022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17218" y="1361777"/>
            <a:ext cx="2709416" cy="644426"/>
          </a:xfrm>
          <a:prstGeom prst="rect">
            <a:avLst/>
          </a:prstGeom>
          <a:solidFill>
            <a:srgbClr val="2B7A8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94918" y="1514177"/>
            <a:ext cx="24010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94918" y="1663303"/>
            <a:ext cx="24010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Flexibilité Télétravail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94918" y="2158603"/>
            <a:ext cx="2354014" cy="720626"/>
          </a:xfrm>
          <a:prstGeom prst="roundRect">
            <a:avLst>
              <a:gd name="adj" fmla="val 7049"/>
            </a:avLst>
          </a:prstGeom>
          <a:solidFill>
            <a:srgbClr val="EAF5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21869" y="2247454"/>
            <a:ext cx="21421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7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jours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21869" y="2542729"/>
            <a:ext cx="21421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télétravail / semaine (acté au contrat)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94918" y="2955429"/>
            <a:ext cx="2401095" cy="85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poste requiert une forte autonomie sur l'analyse de données — le distanciel optimise ma productivité sans coût supplémentaire.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94918" y="4127599"/>
            <a:ext cx="2354014" cy="685800"/>
          </a:xfrm>
          <a:prstGeom prst="roundRect">
            <a:avLst>
              <a:gd name="adj" fmla="val 5556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13968" y="4127599"/>
            <a:ext cx="0" cy="685800"/>
          </a:xfrm>
          <a:prstGeom prst="line">
            <a:avLst/>
          </a:prstGeom>
          <a:noFill/>
          <a:ln w="38100">
            <a:solidFill>
              <a:srgbClr val="C0C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318" y="4203799"/>
            <a:ext cx="21290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"Pouvons-nous acter un 3ème jour de télétravail dans mon contrat pour optimiser mon temps de production ?"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79034" y="1361777"/>
            <a:ext cx="2709416" cy="3604022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79034" y="1361777"/>
            <a:ext cx="2709416" cy="644426"/>
          </a:xfrm>
          <a:prstGeom prst="rect">
            <a:avLst/>
          </a:prstGeom>
          <a:solidFill>
            <a:srgbClr val="A67E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56734" y="1514177"/>
            <a:ext cx="24010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56734" y="1663303"/>
            <a:ext cx="24010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d'Arrivée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6734" y="2158603"/>
            <a:ext cx="2354014" cy="596801"/>
          </a:xfrm>
          <a:prstGeom prst="roundRect">
            <a:avLst>
              <a:gd name="adj" fmla="val 8512"/>
            </a:avLst>
          </a:prstGeom>
          <a:solidFill>
            <a:srgbClr val="FDF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83685" y="2247454"/>
            <a:ext cx="21421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67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3 000 €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383685" y="2542729"/>
            <a:ext cx="21421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Sign-on bonus exceptionnel (1ère année)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56734" y="2831604"/>
            <a:ext cx="2401095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Pallie l'écart de salaire fixe sur la 1ère année sans impacter la grille salariale pérenne de l'entreprise.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6734" y="4127599"/>
            <a:ext cx="2354014" cy="685800"/>
          </a:xfrm>
          <a:prstGeom prst="roundRect">
            <a:avLst>
              <a:gd name="adj" fmla="val 5556"/>
            </a:avLst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275784" y="4127599"/>
            <a:ext cx="0" cy="685800"/>
          </a:xfrm>
          <a:prstGeom prst="line">
            <a:avLst/>
          </a:prstGeom>
          <a:noFill/>
          <a:ln w="38100">
            <a:solidFill>
              <a:srgbClr val="C0C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134" y="4203799"/>
            <a:ext cx="21290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"Pour pallier l'écart sans modifier vos grilles pérennes, convenons d'une prime d'arrivée exceptionnelle de 3 000 €."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7301"/>
          </a:xfrm>
          <a:prstGeom prst="rect">
            <a:avLst/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84113"/>
            <a:ext cx="827931" cy="219075"/>
          </a:xfrm>
          <a:prstGeom prst="roundRect">
            <a:avLst>
              <a:gd name="adj" fmla="val 17391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322213"/>
            <a:ext cx="5855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86632" y="98375"/>
            <a:ext cx="752389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de Fin — Synthèse &amp; Plan d'Action (CoDéveloppement)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939701"/>
            <a:ext cx="4631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ACCORDS — CE QUE JE FORMALISE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5550" y="1250752"/>
            <a:ext cx="4540300" cy="2356991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251" y="141580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5871" y="1450628"/>
            <a:ext cx="97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702" y="1403152"/>
            <a:ext cx="394479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CDI actée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prise de poste septembre, accord sur le principe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251" y="18472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871" y="1882080"/>
            <a:ext cx="97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702" y="1834604"/>
            <a:ext cx="394479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de la double compétence reconnue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technique + animation de parties prenantes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251" y="227870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5871" y="2313533"/>
            <a:ext cx="97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702" y="2266057"/>
            <a:ext cx="394479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demande à 44 000 € notée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alignement marché confirmé (43-47k€)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251" y="271016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5871" y="2744986"/>
            <a:ext cx="97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702" y="2697510"/>
            <a:ext cx="3944797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Ouverture sur les leviers alternatifs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formation, télétravail, prime d'arrivée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5550" y="3709243"/>
            <a:ext cx="4540300" cy="1256556"/>
          </a:xfrm>
          <a:prstGeom prst="roundRect">
            <a:avLst>
              <a:gd name="adj" fmla="val 6064"/>
            </a:avLst>
          </a:prstGeom>
          <a:solidFill>
            <a:srgbClr val="1E3A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93650" y="3709243"/>
            <a:ext cx="0" cy="1256556"/>
          </a:xfrm>
          <a:prstGeom prst="line">
            <a:avLst/>
          </a:prstGeom>
          <a:noFill/>
          <a:ln w="76200">
            <a:solidFill>
              <a:srgbClr val="C49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451" y="3861643"/>
            <a:ext cx="4190872" cy="951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D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"Camille, pour résumer nos échanges : nous sommes d'accord sur mon intégration CDI et la valeur de ma double compétence. Tu as noté ma demande à 44 000 € et mon ouverture sur les leviers alternatifs. Tu te rapproches de la DRH pour étudier ces options."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3551" y="939701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 — PLAN D'ACTION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3551" y="1250752"/>
            <a:ext cx="3714899" cy="1548259"/>
          </a:xfrm>
          <a:prstGeom prst="roundRect">
            <a:avLst>
              <a:gd name="adj" fmla="val 4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51252" y="1377702"/>
            <a:ext cx="1302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0447" y="1377702"/>
            <a:ext cx="319290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Camille se rapproche de la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DRH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étudier les options salariales et les leviers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1252" y="1809155"/>
            <a:ext cx="1302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0447" y="1809155"/>
            <a:ext cx="319290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pose une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retour précise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valider et signer sereinement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1252" y="2240607"/>
            <a:ext cx="1302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0447" y="2240607"/>
            <a:ext cx="319290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accord :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du contrat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relecture et signature avant fin de semaine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3551" y="2900511"/>
            <a:ext cx="3714899" cy="807541"/>
          </a:xfrm>
          <a:prstGeom prst="roundRect">
            <a:avLst>
              <a:gd name="adj" fmla="val 6291"/>
            </a:avLst>
          </a:prstGeom>
          <a:solidFill>
            <a:srgbClr val="EEF8FC"/>
          </a:solidFill>
          <a:ln w="9525">
            <a:solidFill>
              <a:srgbClr val="2B7A8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01565" y="3024336"/>
            <a:ext cx="345887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i="1" dirty="0">
                <a:solidFill>
                  <a:srgbClr val="1A4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"Quand penses-tu pouvoir me faire un retour pour que nous puissions valider et signer mon contrat sereinement ?"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36402" y="3809554"/>
            <a:ext cx="3789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Rappel : ne jamais partir sans une date de retour confirmée.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2501" y="253901"/>
            <a:ext cx="8446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 OPÉRATIONNEL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82501" y="463451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— Le Jour J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82501" y="990451"/>
            <a:ext cx="2675483" cy="3400871"/>
          </a:xfrm>
          <a:prstGeom prst="roundRect">
            <a:avLst>
              <a:gd name="adj" fmla="val 2848"/>
            </a:avLst>
          </a:prstGeom>
          <a:solidFill>
            <a:srgbClr val="162C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60202" y="1357164"/>
            <a:ext cx="2320082" cy="0"/>
          </a:xfrm>
          <a:prstGeom prst="line">
            <a:avLst/>
          </a:prstGeom>
          <a:noFill/>
          <a:ln w="9525">
            <a:solidFill>
              <a:srgbClr val="2A48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202" y="1142851"/>
            <a:ext cx="2366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L'ENTRETIEN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0202" y="1476077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4853" y="1463427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Postures haute puissance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min — bras ouverts, respiration ventrale (Amy Cuddy)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202" y="2059632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64853" y="2046982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Chiffres marché mémorisés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43-47k€, offre concurrente 45k€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0202" y="2643188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4853" y="2630537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QCG répété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voix haute — Q, C, G enchaînés sans hésitation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0202" y="3226743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4853" y="3214092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Leviers alternatifs priorisés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Formation › Télétravail › Prime 3k€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4934" y="990451"/>
            <a:ext cx="2675632" cy="3400871"/>
          </a:xfrm>
          <a:prstGeom prst="roundRect">
            <a:avLst>
              <a:gd name="adj" fmla="val 2848"/>
            </a:avLst>
          </a:prstGeom>
          <a:solidFill>
            <a:srgbClr val="162C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462635" y="1357164"/>
            <a:ext cx="2320230" cy="0"/>
          </a:xfrm>
          <a:prstGeom prst="line">
            <a:avLst/>
          </a:prstGeom>
          <a:noFill/>
          <a:ln w="9525">
            <a:solidFill>
              <a:srgbClr val="2A48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2635" y="1142851"/>
            <a:ext cx="23666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PENDANT L'ENTRETIEN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62635" y="1476077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767286" y="1463427"/>
            <a:ext cx="2055891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Ancrage au sol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pieds à plat, dos droit, gestes ouverts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62635" y="1894731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67286" y="1882080"/>
            <a:ext cx="2055891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Rythme lent + pauses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marquer les punchlines clés en silence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62635" y="2478286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67286" y="2465636"/>
            <a:ext cx="2055891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Écouter sans interrompre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décoder l'émotion de Camille avant de répondre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62635" y="3061841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67286" y="3049191"/>
            <a:ext cx="2055891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Reformuler avant de répondre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posture CoDéveloppement, focus faits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7517" y="990451"/>
            <a:ext cx="2675483" cy="3400871"/>
          </a:xfrm>
          <a:prstGeom prst="roundRect">
            <a:avLst>
              <a:gd name="adj" fmla="val 2848"/>
            </a:avLst>
          </a:prstGeom>
          <a:solidFill>
            <a:srgbClr val="162C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65218" y="1357164"/>
            <a:ext cx="2320082" cy="0"/>
          </a:xfrm>
          <a:prstGeom prst="line">
            <a:avLst/>
          </a:prstGeom>
          <a:noFill/>
          <a:ln w="9525">
            <a:solidFill>
              <a:srgbClr val="2A48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5218" y="1142851"/>
            <a:ext cx="23664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9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CONCLUSION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5218" y="1476077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69869" y="1463427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Résumer les 4 accords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CDI · compétence · 44k€ · leviers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5218" y="2059632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69869" y="2046982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Poser la prochaine étape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"Quand peux-tu me faire un retour ?"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5218" y="2643188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69869" y="2630537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Obtenir une date de décision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 jamais partir sans engagement calendrier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5218" y="3226743"/>
            <a:ext cx="203150" cy="203150"/>
          </a:xfrm>
          <a:prstGeom prst="roundRect">
            <a:avLst>
              <a:gd name="adj" fmla="val 12503"/>
            </a:avLst>
          </a:prstGeom>
          <a:noFill/>
          <a:ln w="19050">
            <a:solidFill>
              <a:srgbClr val="C49A2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569869" y="3214092"/>
            <a:ext cx="2055739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Repartir serein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quel que soit le résultat immédiat, la relation est préservée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501" y="4569023"/>
            <a:ext cx="8280499" cy="320576"/>
          </a:xfrm>
          <a:prstGeom prst="roundRect">
            <a:avLst>
              <a:gd name="adj" fmla="val 15846"/>
            </a:avLst>
          </a:prstGeom>
          <a:solidFill>
            <a:srgbClr val="C49A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0951" y="4657874"/>
            <a:ext cx="80836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44 000 € · CDI · Septembre · Horizon Impact — Je suis prêt(e).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de Négociation CDI — Horizon Impact</dc:title>
  <dc:subject>Préparation stratégique négociation salariale</dc:subject>
  <dc:creator>Coaching RH</dc:creator>
  <cp:lastModifiedBy>Coaching RH</cp:lastModifiedBy>
  <cp:revision>1</cp:revision>
  <dcterms:created xsi:type="dcterms:W3CDTF">2026-06-10T12:10:28Z</dcterms:created>
  <dcterms:modified xsi:type="dcterms:W3CDTF">2026-06-10T12:10:28Z</dcterms:modified>
</cp:coreProperties>
</file>